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4630400" cy="8229600"/>
  <p:notesSz cx="8229600" cy="14630400"/>
  <p:embeddedFontLst>
    <p:embeddedFont>
      <p:font typeface="Barlow Medium"/>
      <p:regular r:id="rId17"/>
    </p:embeddedFont>
    <p:embeddedFont>
      <p:font typeface="Barlow Medium"/>
      <p:regular r:id="rId18"/>
    </p:embeddedFont>
    <p:embeddedFont>
      <p:font typeface="Barlow Medium"/>
      <p:regular r:id="rId19"/>
    </p:embeddedFont>
    <p:embeddedFont>
      <p:font typeface="Barlow Medium"/>
      <p:regular r:id="rId20"/>
    </p:embeddedFont>
    <p:embeddedFont>
      <p:font typeface="Barlow"/>
      <p:regular r:id="rId21"/>
    </p:embeddedFont>
    <p:embeddedFont>
      <p:font typeface="Barlow"/>
      <p:regular r:id="rId22"/>
    </p:embeddedFont>
    <p:embeddedFont>
      <p:font typeface="Barlow"/>
      <p:regular r:id="rId23"/>
    </p:embeddedFont>
    <p:embeddedFont>
      <p:font typeface="Barlow"/>
      <p:regular r:id="rId24"/>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font" Target="fonts/font1.fntdata"/><Relationship Id="rId18" Type="http://schemas.openxmlformats.org/officeDocument/2006/relationships/font" Target="fonts/font2.fntdata"/><Relationship Id="rId19" Type="http://schemas.openxmlformats.org/officeDocument/2006/relationships/font" Target="fonts/font3.fntdata"/><Relationship Id="rId20" Type="http://schemas.openxmlformats.org/officeDocument/2006/relationships/font" Target="fonts/font4.fntdata"/><Relationship Id="rId21" Type="http://schemas.openxmlformats.org/officeDocument/2006/relationships/font" Target="fonts/font5.fntdata"/><Relationship Id="rId22" Type="http://schemas.openxmlformats.org/officeDocument/2006/relationships/font" Target="fonts/font6.fntdata"/><Relationship Id="rId23" Type="http://schemas.openxmlformats.org/officeDocument/2006/relationships/font" Target="fonts/font7.fntdata"/><Relationship Id="rId24" Type="http://schemas.openxmlformats.org/officeDocument/2006/relationships/font" Target="fonts/font8.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2-1.png"/><Relationship Id="rId2" Type="http://schemas.openxmlformats.org/officeDocument/2006/relationships/image" Target="../media/image-1002-2.png"/><Relationship Id="rId4"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3-1.png"/><Relationship Id="rId2" Type="http://schemas.openxmlformats.org/officeDocument/2006/relationships/image" Target="../media/image-1003-2.png"/><Relationship Id="rId4"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4-1.png"/><Relationship Id="rId2" Type="http://schemas.openxmlformats.org/officeDocument/2006/relationships/image" Target="../media/image-1004-2.png"/><Relationship Id="rId4"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5-1.png"/><Relationship Id="rId2" Type="http://schemas.openxmlformats.org/officeDocument/2006/relationships/image" Target="../media/image-1005-2.png"/><Relationship Id="rId4"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6-1.png"/><Relationship Id="rId2" Type="http://schemas.openxmlformats.org/officeDocument/2006/relationships/image" Target="../media/image-1006-2.png"/><Relationship Id="rId4"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7-1.png"/><Relationship Id="rId2" Type="http://schemas.openxmlformats.org/officeDocument/2006/relationships/image" Target="../media/image-1007-2.png"/><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8-1.png"/><Relationship Id="rId2" Type="http://schemas.openxmlformats.org/officeDocument/2006/relationships/image" Target="../media/image-1008-2.png"/><Relationship Id="rId4"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9-1.png"/><Relationship Id="rId2" Type="http://schemas.openxmlformats.org/officeDocument/2006/relationships/image" Target="../media/image-1009-2.png"/><Relationship Id="rId4"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10-1.png"/><Relationship Id="rId2" Type="http://schemas.openxmlformats.org/officeDocument/2006/relationships/image" Target="../media/image-1010-2.png"/><Relationship Id="rId4"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11-1.png"/><Relationship Id="rId2" Type="http://schemas.openxmlformats.org/officeDocument/2006/relationships/image" Target="../media/image-1011-2.png"/><Relationship Id="rId4"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91718">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91718">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91718">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91718">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91718">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91718">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91718">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91718">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91718">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91718">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5.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7.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8.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9.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0.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864037" y="1913334"/>
            <a:ext cx="7415927" cy="2057400"/>
          </a:xfrm>
          <a:prstGeom prst="rect">
            <a:avLst/>
          </a:prstGeom>
          <a:noFill/>
          <a:ln/>
        </p:spPr>
        <p:txBody>
          <a:bodyPr wrap="square" lIns="0" tIns="0" rIns="0" bIns="0" rtlCol="0" anchor="t"/>
          <a:lstStyle/>
          <a:p>
            <a:pPr algn="l" indent="0" marL="0">
              <a:lnSpc>
                <a:spcPts val="5400"/>
              </a:lnSpc>
              <a:buNone/>
            </a:pPr>
            <a:r>
              <a:rPr lang="en-US" sz="4300" dirty="0">
                <a:solidFill>
                  <a:srgbClr val="FFFFFF"/>
                </a:solidFill>
                <a:latin typeface="Barlow Medium" pitchFamily="34" charset="0"/>
                <a:ea typeface="Barlow Medium" pitchFamily="34" charset="-122"/>
                <a:cs typeface="Barlow Medium" pitchFamily="34" charset="-120"/>
              </a:rPr>
              <a:t>Smart Irrigation with Drones: Precision Agriculture for a Sustainable Future</a:t>
            </a:r>
            <a:endParaRPr lang="en-US" sz="4300" dirty="0"/>
          </a:p>
        </p:txBody>
      </p:sp>
      <p:sp>
        <p:nvSpPr>
          <p:cNvPr id="4" name="Text 1"/>
          <p:cNvSpPr/>
          <p:nvPr/>
        </p:nvSpPr>
        <p:spPr>
          <a:xfrm>
            <a:off x="864037" y="4341019"/>
            <a:ext cx="7415927" cy="1975247"/>
          </a:xfrm>
          <a:prstGeom prst="rect">
            <a:avLst/>
          </a:prstGeom>
          <a:noFill/>
          <a:ln/>
        </p:spPr>
        <p:txBody>
          <a:bodyPr wrap="square" lIns="0" tIns="0" rIns="0" bIns="0" rtlCol="0" anchor="t"/>
          <a:lstStyle/>
          <a:p>
            <a:pPr algn="l" indent="0" marL="0">
              <a:lnSpc>
                <a:spcPts val="3100"/>
              </a:lnSpc>
              <a:buNone/>
            </a:pPr>
            <a:r>
              <a:rPr lang="en-US" sz="1900" dirty="0">
                <a:solidFill>
                  <a:srgbClr val="E5E0DF"/>
                </a:solidFill>
                <a:latin typeface="Barlow" pitchFamily="34" charset="0"/>
                <a:ea typeface="Barlow" pitchFamily="34" charset="-122"/>
                <a:cs typeface="Barlow" pitchFamily="34" charset="-120"/>
              </a:rPr>
              <a:t>Discover how intelligent irrigation systems, powered by drone technology, are revolutionizing agriculture. This presentation explores the problem of inefficient water use, the solution offered by smart irrigation, and the key benefits of adopting this innovative approach.</a:t>
            </a:r>
            <a:endParaRPr lang="en-US" sz="1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864037" y="1912501"/>
            <a:ext cx="8351401" cy="685800"/>
          </a:xfrm>
          <a:prstGeom prst="rect">
            <a:avLst/>
          </a:prstGeom>
          <a:noFill/>
          <a:ln/>
        </p:spPr>
        <p:txBody>
          <a:bodyPr wrap="none" lIns="0" tIns="0" rIns="0" bIns="0" rtlCol="0" anchor="t"/>
          <a:lstStyle/>
          <a:p>
            <a:pPr algn="l" indent="0" marL="0">
              <a:lnSpc>
                <a:spcPts val="5400"/>
              </a:lnSpc>
              <a:buNone/>
            </a:pPr>
            <a:r>
              <a:rPr lang="en-US" sz="4300" dirty="0">
                <a:solidFill>
                  <a:srgbClr val="FFFFFF"/>
                </a:solidFill>
                <a:latin typeface="Barlow Medium" pitchFamily="34" charset="0"/>
                <a:ea typeface="Barlow Medium" pitchFamily="34" charset="-122"/>
                <a:cs typeface="Barlow Medium" pitchFamily="34" charset="-120"/>
              </a:rPr>
              <a:t>Limitations of Traditional Irrigation</a:t>
            </a:r>
            <a:endParaRPr lang="en-US" sz="4300" dirty="0"/>
          </a:p>
        </p:txBody>
      </p:sp>
      <p:sp>
        <p:nvSpPr>
          <p:cNvPr id="3" name="Text 1"/>
          <p:cNvSpPr/>
          <p:nvPr/>
        </p:nvSpPr>
        <p:spPr>
          <a:xfrm>
            <a:off x="864037" y="3215402"/>
            <a:ext cx="3313271" cy="342900"/>
          </a:xfrm>
          <a:prstGeom prst="rect">
            <a:avLst/>
          </a:prstGeom>
          <a:noFill/>
          <a:ln/>
        </p:spPr>
        <p:txBody>
          <a:bodyPr wrap="none" lIns="0" tIns="0" rIns="0" bIns="0" rtlCol="0" anchor="t"/>
          <a:lstStyle/>
          <a:p>
            <a:pPr algn="l" indent="0" marL="0">
              <a:lnSpc>
                <a:spcPts val="2700"/>
              </a:lnSpc>
              <a:buNone/>
            </a:pPr>
            <a:r>
              <a:rPr lang="en-US" sz="2150" dirty="0">
                <a:solidFill>
                  <a:srgbClr val="FFFFFF"/>
                </a:solidFill>
                <a:latin typeface="Barlow Medium" pitchFamily="34" charset="0"/>
                <a:ea typeface="Barlow Medium" pitchFamily="34" charset="-122"/>
                <a:cs typeface="Barlow Medium" pitchFamily="34" charset="-120"/>
              </a:rPr>
              <a:t>Common Irrigation Methods</a:t>
            </a:r>
            <a:endParaRPr lang="en-US" sz="2150" dirty="0"/>
          </a:p>
        </p:txBody>
      </p:sp>
      <p:sp>
        <p:nvSpPr>
          <p:cNvPr id="4" name="Text 2"/>
          <p:cNvSpPr/>
          <p:nvPr/>
        </p:nvSpPr>
        <p:spPr>
          <a:xfrm>
            <a:off x="864037" y="3805118"/>
            <a:ext cx="3898821" cy="395049"/>
          </a:xfrm>
          <a:prstGeom prst="rect">
            <a:avLst/>
          </a:prstGeom>
          <a:noFill/>
          <a:ln/>
        </p:spPr>
        <p:txBody>
          <a:bodyPr wrap="none" lIns="0" tIns="0" rIns="0" bIns="0" rtlCol="0" anchor="t"/>
          <a:lstStyle/>
          <a:p>
            <a:pPr algn="l" marL="342900" indent="-342900">
              <a:lnSpc>
                <a:spcPts val="3100"/>
              </a:lnSpc>
              <a:buSzPct val="100000"/>
              <a:buChar char="•"/>
            </a:pPr>
            <a:r>
              <a:rPr lang="en-US" sz="1900" dirty="0">
                <a:solidFill>
                  <a:srgbClr val="E5E0DF"/>
                </a:solidFill>
                <a:latin typeface="Barlow" pitchFamily="34" charset="0"/>
                <a:ea typeface="Barlow" pitchFamily="34" charset="-122"/>
                <a:cs typeface="Barlow" pitchFamily="34" charset="-120"/>
              </a:rPr>
              <a:t>Flood irrigation</a:t>
            </a:r>
            <a:endParaRPr lang="en-US" sz="1900" dirty="0"/>
          </a:p>
        </p:txBody>
      </p:sp>
      <p:sp>
        <p:nvSpPr>
          <p:cNvPr id="5" name="Text 3"/>
          <p:cNvSpPr/>
          <p:nvPr/>
        </p:nvSpPr>
        <p:spPr>
          <a:xfrm>
            <a:off x="864037" y="4286488"/>
            <a:ext cx="3898821" cy="395049"/>
          </a:xfrm>
          <a:prstGeom prst="rect">
            <a:avLst/>
          </a:prstGeom>
          <a:noFill/>
          <a:ln/>
        </p:spPr>
        <p:txBody>
          <a:bodyPr wrap="none" lIns="0" tIns="0" rIns="0" bIns="0" rtlCol="0" anchor="t"/>
          <a:lstStyle/>
          <a:p>
            <a:pPr algn="l" marL="342900" indent="-342900">
              <a:lnSpc>
                <a:spcPts val="3100"/>
              </a:lnSpc>
              <a:buSzPct val="100000"/>
              <a:buChar char="•"/>
            </a:pPr>
            <a:r>
              <a:rPr lang="en-US" sz="1900" dirty="0">
                <a:solidFill>
                  <a:srgbClr val="E5E0DF"/>
                </a:solidFill>
                <a:latin typeface="Barlow" pitchFamily="34" charset="0"/>
                <a:ea typeface="Barlow" pitchFamily="34" charset="-122"/>
                <a:cs typeface="Barlow" pitchFamily="34" charset="-120"/>
              </a:rPr>
              <a:t>Sprinkler irrigation</a:t>
            </a:r>
            <a:endParaRPr lang="en-US" sz="1900" dirty="0"/>
          </a:p>
        </p:txBody>
      </p:sp>
      <p:sp>
        <p:nvSpPr>
          <p:cNvPr id="6" name="Text 4"/>
          <p:cNvSpPr/>
          <p:nvPr/>
        </p:nvSpPr>
        <p:spPr>
          <a:xfrm>
            <a:off x="864037" y="4767858"/>
            <a:ext cx="3898821" cy="395049"/>
          </a:xfrm>
          <a:prstGeom prst="rect">
            <a:avLst/>
          </a:prstGeom>
          <a:noFill/>
          <a:ln/>
        </p:spPr>
        <p:txBody>
          <a:bodyPr wrap="none" lIns="0" tIns="0" rIns="0" bIns="0" rtlCol="0" anchor="t"/>
          <a:lstStyle/>
          <a:p>
            <a:pPr algn="l" marL="342900" indent="-342900">
              <a:lnSpc>
                <a:spcPts val="3100"/>
              </a:lnSpc>
              <a:buSzPct val="100000"/>
              <a:buChar char="•"/>
            </a:pPr>
            <a:r>
              <a:rPr lang="en-US" sz="1900" dirty="0">
                <a:solidFill>
                  <a:srgbClr val="E5E0DF"/>
                </a:solidFill>
                <a:latin typeface="Barlow" pitchFamily="34" charset="0"/>
                <a:ea typeface="Barlow" pitchFamily="34" charset="-122"/>
                <a:cs typeface="Barlow" pitchFamily="34" charset="-120"/>
              </a:rPr>
              <a:t>Drip irrigation</a:t>
            </a:r>
            <a:endParaRPr lang="en-US" sz="1900" dirty="0"/>
          </a:p>
        </p:txBody>
      </p:sp>
      <p:sp>
        <p:nvSpPr>
          <p:cNvPr id="7" name="Text 5"/>
          <p:cNvSpPr/>
          <p:nvPr/>
        </p:nvSpPr>
        <p:spPr>
          <a:xfrm>
            <a:off x="5372695" y="3215402"/>
            <a:ext cx="2743200" cy="342900"/>
          </a:xfrm>
          <a:prstGeom prst="rect">
            <a:avLst/>
          </a:prstGeom>
          <a:noFill/>
          <a:ln/>
        </p:spPr>
        <p:txBody>
          <a:bodyPr wrap="none" lIns="0" tIns="0" rIns="0" bIns="0" rtlCol="0" anchor="t"/>
          <a:lstStyle/>
          <a:p>
            <a:pPr algn="l" indent="0" marL="0">
              <a:lnSpc>
                <a:spcPts val="2700"/>
              </a:lnSpc>
              <a:buNone/>
            </a:pPr>
            <a:r>
              <a:rPr lang="en-US" sz="2150" dirty="0">
                <a:solidFill>
                  <a:srgbClr val="FFFFFF"/>
                </a:solidFill>
                <a:latin typeface="Barlow Medium" pitchFamily="34" charset="0"/>
                <a:ea typeface="Barlow Medium" pitchFamily="34" charset="-122"/>
                <a:cs typeface="Barlow Medium" pitchFamily="34" charset="-120"/>
              </a:rPr>
              <a:t>Inefficiencies</a:t>
            </a:r>
            <a:endParaRPr lang="en-US" sz="2150" dirty="0"/>
          </a:p>
        </p:txBody>
      </p:sp>
      <p:sp>
        <p:nvSpPr>
          <p:cNvPr id="8" name="Text 6"/>
          <p:cNvSpPr/>
          <p:nvPr/>
        </p:nvSpPr>
        <p:spPr>
          <a:xfrm>
            <a:off x="5372695" y="3805118"/>
            <a:ext cx="3898821" cy="395049"/>
          </a:xfrm>
          <a:prstGeom prst="rect">
            <a:avLst/>
          </a:prstGeom>
          <a:noFill/>
          <a:ln/>
        </p:spPr>
        <p:txBody>
          <a:bodyPr wrap="none" lIns="0" tIns="0" rIns="0" bIns="0" rtlCol="0" anchor="t"/>
          <a:lstStyle/>
          <a:p>
            <a:pPr algn="l" marL="342900" indent="-342900">
              <a:lnSpc>
                <a:spcPts val="3100"/>
              </a:lnSpc>
              <a:buSzPct val="100000"/>
              <a:buChar char="•"/>
            </a:pPr>
            <a:r>
              <a:rPr lang="en-US" sz="1900" dirty="0">
                <a:solidFill>
                  <a:srgbClr val="E5E0DF"/>
                </a:solidFill>
                <a:latin typeface="Barlow" pitchFamily="34" charset="0"/>
                <a:ea typeface="Barlow" pitchFamily="34" charset="-122"/>
                <a:cs typeface="Barlow" pitchFamily="34" charset="-120"/>
              </a:rPr>
              <a:t>Overwatering</a:t>
            </a:r>
            <a:endParaRPr lang="en-US" sz="1900" dirty="0"/>
          </a:p>
        </p:txBody>
      </p:sp>
      <p:sp>
        <p:nvSpPr>
          <p:cNvPr id="9" name="Text 7"/>
          <p:cNvSpPr/>
          <p:nvPr/>
        </p:nvSpPr>
        <p:spPr>
          <a:xfrm>
            <a:off x="5372695" y="4286488"/>
            <a:ext cx="3898821" cy="395049"/>
          </a:xfrm>
          <a:prstGeom prst="rect">
            <a:avLst/>
          </a:prstGeom>
          <a:noFill/>
          <a:ln/>
        </p:spPr>
        <p:txBody>
          <a:bodyPr wrap="none" lIns="0" tIns="0" rIns="0" bIns="0" rtlCol="0" anchor="t"/>
          <a:lstStyle/>
          <a:p>
            <a:pPr algn="l" marL="342900" indent="-342900">
              <a:lnSpc>
                <a:spcPts val="3100"/>
              </a:lnSpc>
              <a:buSzPct val="100000"/>
              <a:buChar char="•"/>
            </a:pPr>
            <a:r>
              <a:rPr lang="en-US" sz="1900" dirty="0">
                <a:solidFill>
                  <a:srgbClr val="E5E0DF"/>
                </a:solidFill>
                <a:latin typeface="Barlow" pitchFamily="34" charset="0"/>
                <a:ea typeface="Barlow" pitchFamily="34" charset="-122"/>
                <a:cs typeface="Barlow" pitchFamily="34" charset="-120"/>
              </a:rPr>
              <a:t>Uneven distribution</a:t>
            </a:r>
            <a:endParaRPr lang="en-US" sz="1900" dirty="0"/>
          </a:p>
        </p:txBody>
      </p:sp>
      <p:sp>
        <p:nvSpPr>
          <p:cNvPr id="10" name="Text 8"/>
          <p:cNvSpPr/>
          <p:nvPr/>
        </p:nvSpPr>
        <p:spPr>
          <a:xfrm>
            <a:off x="5372695" y="4767858"/>
            <a:ext cx="3898821" cy="395049"/>
          </a:xfrm>
          <a:prstGeom prst="rect">
            <a:avLst/>
          </a:prstGeom>
          <a:noFill/>
          <a:ln/>
        </p:spPr>
        <p:txBody>
          <a:bodyPr wrap="none" lIns="0" tIns="0" rIns="0" bIns="0" rtlCol="0" anchor="t"/>
          <a:lstStyle/>
          <a:p>
            <a:pPr algn="l" marL="342900" indent="-342900">
              <a:lnSpc>
                <a:spcPts val="3100"/>
              </a:lnSpc>
              <a:buSzPct val="100000"/>
              <a:buChar char="•"/>
            </a:pPr>
            <a:r>
              <a:rPr lang="en-US" sz="1900" dirty="0">
                <a:solidFill>
                  <a:srgbClr val="E5E0DF"/>
                </a:solidFill>
                <a:latin typeface="Barlow" pitchFamily="34" charset="0"/>
                <a:ea typeface="Barlow" pitchFamily="34" charset="-122"/>
                <a:cs typeface="Barlow" pitchFamily="34" charset="-120"/>
              </a:rPr>
              <a:t>Evaporation</a:t>
            </a:r>
            <a:endParaRPr lang="en-US" sz="1900" dirty="0"/>
          </a:p>
        </p:txBody>
      </p:sp>
      <p:sp>
        <p:nvSpPr>
          <p:cNvPr id="11" name="Text 9"/>
          <p:cNvSpPr/>
          <p:nvPr/>
        </p:nvSpPr>
        <p:spPr>
          <a:xfrm>
            <a:off x="9881354" y="3215402"/>
            <a:ext cx="2743200" cy="342900"/>
          </a:xfrm>
          <a:prstGeom prst="rect">
            <a:avLst/>
          </a:prstGeom>
          <a:noFill/>
          <a:ln/>
        </p:spPr>
        <p:txBody>
          <a:bodyPr wrap="none" lIns="0" tIns="0" rIns="0" bIns="0" rtlCol="0" anchor="t"/>
          <a:lstStyle/>
          <a:p>
            <a:pPr algn="l" indent="0" marL="0">
              <a:lnSpc>
                <a:spcPts val="2700"/>
              </a:lnSpc>
              <a:buNone/>
            </a:pPr>
            <a:r>
              <a:rPr lang="en-US" sz="2150" dirty="0">
                <a:solidFill>
                  <a:srgbClr val="FFFFFF"/>
                </a:solidFill>
                <a:latin typeface="Barlow Medium" pitchFamily="34" charset="0"/>
                <a:ea typeface="Barlow Medium" pitchFamily="34" charset="-122"/>
                <a:cs typeface="Barlow Medium" pitchFamily="34" charset="-120"/>
              </a:rPr>
              <a:t>Environmental Impact</a:t>
            </a:r>
            <a:endParaRPr lang="en-US" sz="2150" dirty="0"/>
          </a:p>
        </p:txBody>
      </p:sp>
      <p:sp>
        <p:nvSpPr>
          <p:cNvPr id="12" name="Text 10"/>
          <p:cNvSpPr/>
          <p:nvPr/>
        </p:nvSpPr>
        <p:spPr>
          <a:xfrm>
            <a:off x="9881354" y="3805118"/>
            <a:ext cx="3898821" cy="395049"/>
          </a:xfrm>
          <a:prstGeom prst="rect">
            <a:avLst/>
          </a:prstGeom>
          <a:noFill/>
          <a:ln/>
        </p:spPr>
        <p:txBody>
          <a:bodyPr wrap="none" lIns="0" tIns="0" rIns="0" bIns="0" rtlCol="0" anchor="t"/>
          <a:lstStyle/>
          <a:p>
            <a:pPr algn="l" marL="342900" indent="-342900">
              <a:lnSpc>
                <a:spcPts val="3100"/>
              </a:lnSpc>
              <a:buSzPct val="100000"/>
              <a:buChar char="•"/>
            </a:pPr>
            <a:r>
              <a:rPr lang="en-US" sz="1900" dirty="0">
                <a:solidFill>
                  <a:srgbClr val="E5E0DF"/>
                </a:solidFill>
                <a:latin typeface="Barlow" pitchFamily="34" charset="0"/>
                <a:ea typeface="Barlow" pitchFamily="34" charset="-122"/>
                <a:cs typeface="Barlow" pitchFamily="34" charset="-120"/>
              </a:rPr>
              <a:t>Soil erosion</a:t>
            </a:r>
            <a:endParaRPr lang="en-US" sz="1900" dirty="0"/>
          </a:p>
        </p:txBody>
      </p:sp>
      <p:sp>
        <p:nvSpPr>
          <p:cNvPr id="13" name="Text 11"/>
          <p:cNvSpPr/>
          <p:nvPr/>
        </p:nvSpPr>
        <p:spPr>
          <a:xfrm>
            <a:off x="9881354" y="4286488"/>
            <a:ext cx="3898821" cy="395049"/>
          </a:xfrm>
          <a:prstGeom prst="rect">
            <a:avLst/>
          </a:prstGeom>
          <a:noFill/>
          <a:ln/>
        </p:spPr>
        <p:txBody>
          <a:bodyPr wrap="none" lIns="0" tIns="0" rIns="0" bIns="0" rtlCol="0" anchor="t"/>
          <a:lstStyle/>
          <a:p>
            <a:pPr algn="l" marL="342900" indent="-342900">
              <a:lnSpc>
                <a:spcPts val="3100"/>
              </a:lnSpc>
              <a:buSzPct val="100000"/>
              <a:buChar char="•"/>
            </a:pPr>
            <a:r>
              <a:rPr lang="en-US" sz="1900" dirty="0">
                <a:solidFill>
                  <a:srgbClr val="E5E0DF"/>
                </a:solidFill>
                <a:latin typeface="Barlow" pitchFamily="34" charset="0"/>
                <a:ea typeface="Barlow" pitchFamily="34" charset="-122"/>
                <a:cs typeface="Barlow" pitchFamily="34" charset="-120"/>
              </a:rPr>
              <a:t>Groundwater depletion</a:t>
            </a:r>
            <a:endParaRPr lang="en-US" sz="1900" dirty="0"/>
          </a:p>
        </p:txBody>
      </p:sp>
      <p:sp>
        <p:nvSpPr>
          <p:cNvPr id="14" name="Text 12"/>
          <p:cNvSpPr/>
          <p:nvPr/>
        </p:nvSpPr>
        <p:spPr>
          <a:xfrm>
            <a:off x="9881354" y="4767858"/>
            <a:ext cx="3898821" cy="395049"/>
          </a:xfrm>
          <a:prstGeom prst="rect">
            <a:avLst/>
          </a:prstGeom>
          <a:noFill/>
          <a:ln/>
        </p:spPr>
        <p:txBody>
          <a:bodyPr wrap="none" lIns="0" tIns="0" rIns="0" bIns="0" rtlCol="0" anchor="t"/>
          <a:lstStyle/>
          <a:p>
            <a:pPr algn="l" marL="342900" indent="-342900">
              <a:lnSpc>
                <a:spcPts val="3100"/>
              </a:lnSpc>
              <a:buSzPct val="100000"/>
              <a:buChar char="•"/>
            </a:pPr>
            <a:r>
              <a:rPr lang="en-US" sz="1900" dirty="0">
                <a:solidFill>
                  <a:srgbClr val="E5E0DF"/>
                </a:solidFill>
                <a:latin typeface="Barlow" pitchFamily="34" charset="0"/>
                <a:ea typeface="Barlow" pitchFamily="34" charset="-122"/>
                <a:cs typeface="Barlow" pitchFamily="34" charset="-120"/>
              </a:rPr>
              <a:t>Fertilizer runoff</a:t>
            </a:r>
            <a:endParaRPr lang="en-US" sz="1900" dirty="0"/>
          </a:p>
        </p:txBody>
      </p:sp>
      <p:sp>
        <p:nvSpPr>
          <p:cNvPr id="15" name="Text 13"/>
          <p:cNvSpPr/>
          <p:nvPr/>
        </p:nvSpPr>
        <p:spPr>
          <a:xfrm>
            <a:off x="864037" y="5526881"/>
            <a:ext cx="12902327" cy="790099"/>
          </a:xfrm>
          <a:prstGeom prst="rect">
            <a:avLst/>
          </a:prstGeom>
          <a:noFill/>
          <a:ln/>
        </p:spPr>
        <p:txBody>
          <a:bodyPr wrap="square" lIns="0" tIns="0" rIns="0" bIns="0" rtlCol="0" anchor="t"/>
          <a:lstStyle/>
          <a:p>
            <a:pPr algn="l" indent="0" marL="0">
              <a:lnSpc>
                <a:spcPts val="3100"/>
              </a:lnSpc>
              <a:buNone/>
            </a:pPr>
            <a:r>
              <a:rPr lang="en-US" sz="1900" dirty="0">
                <a:solidFill>
                  <a:srgbClr val="E5E0DF"/>
                </a:solidFill>
                <a:latin typeface="Barlow" pitchFamily="34" charset="0"/>
                <a:ea typeface="Barlow" pitchFamily="34" charset="-122"/>
                <a:cs typeface="Barlow" pitchFamily="34" charset="-120"/>
              </a:rPr>
              <a:t>Traditional irrigation methods often lead to significant water wastage and environmental damage. The FAO estimates that these methods can waste up to 50% of the water applied.</a:t>
            </a:r>
            <a:endParaRPr lang="en-US" sz="1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864037" y="1601748"/>
            <a:ext cx="7415927" cy="1371600"/>
          </a:xfrm>
          <a:prstGeom prst="rect">
            <a:avLst/>
          </a:prstGeom>
          <a:noFill/>
          <a:ln/>
        </p:spPr>
        <p:txBody>
          <a:bodyPr wrap="square" lIns="0" tIns="0" rIns="0" bIns="0" rtlCol="0" anchor="t"/>
          <a:lstStyle/>
          <a:p>
            <a:pPr algn="l" indent="0" marL="0">
              <a:lnSpc>
                <a:spcPts val="5400"/>
              </a:lnSpc>
              <a:buNone/>
            </a:pPr>
            <a:r>
              <a:rPr lang="en-US" sz="4300" dirty="0">
                <a:solidFill>
                  <a:srgbClr val="FFFFFF"/>
                </a:solidFill>
                <a:latin typeface="Barlow Medium" pitchFamily="34" charset="0"/>
                <a:ea typeface="Barlow Medium" pitchFamily="34" charset="-122"/>
                <a:cs typeface="Barlow Medium" pitchFamily="34" charset="-120"/>
              </a:rPr>
              <a:t>The Smart Irrigation System: An Overview</a:t>
            </a:r>
            <a:endParaRPr lang="en-US" sz="4300" dirty="0"/>
          </a:p>
        </p:txBody>
      </p:sp>
      <p:sp>
        <p:nvSpPr>
          <p:cNvPr id="4" name="Text 1"/>
          <p:cNvSpPr/>
          <p:nvPr/>
        </p:nvSpPr>
        <p:spPr>
          <a:xfrm>
            <a:off x="1114068" y="3343632"/>
            <a:ext cx="1975009" cy="342900"/>
          </a:xfrm>
          <a:prstGeom prst="rect">
            <a:avLst/>
          </a:prstGeom>
          <a:noFill/>
          <a:ln/>
        </p:spPr>
        <p:txBody>
          <a:bodyPr wrap="none" lIns="0" tIns="0" rIns="0" bIns="0" rtlCol="0" anchor="t"/>
          <a:lstStyle/>
          <a:p>
            <a:pPr algn="l" indent="0" marL="0">
              <a:lnSpc>
                <a:spcPts val="2700"/>
              </a:lnSpc>
              <a:buNone/>
            </a:pPr>
            <a:r>
              <a:rPr lang="en-US" sz="2150" dirty="0">
                <a:solidFill>
                  <a:srgbClr val="E5E0DF"/>
                </a:solidFill>
                <a:latin typeface="Barlow Medium" pitchFamily="34" charset="0"/>
                <a:ea typeface="Barlow Medium" pitchFamily="34" charset="-122"/>
                <a:cs typeface="Barlow Medium" pitchFamily="34" charset="-120"/>
              </a:rPr>
              <a:t>Drones</a:t>
            </a:r>
            <a:endParaRPr lang="en-US" sz="2150" dirty="0"/>
          </a:p>
        </p:txBody>
      </p:sp>
      <p:sp>
        <p:nvSpPr>
          <p:cNvPr id="5" name="Text 2"/>
          <p:cNvSpPr/>
          <p:nvPr/>
        </p:nvSpPr>
        <p:spPr>
          <a:xfrm>
            <a:off x="3709511" y="3343632"/>
            <a:ext cx="1975009" cy="342900"/>
          </a:xfrm>
          <a:prstGeom prst="rect">
            <a:avLst/>
          </a:prstGeom>
          <a:noFill/>
          <a:ln/>
        </p:spPr>
        <p:txBody>
          <a:bodyPr wrap="none" lIns="0" tIns="0" rIns="0" bIns="0" rtlCol="0" anchor="t"/>
          <a:lstStyle/>
          <a:p>
            <a:pPr algn="l" indent="0" marL="0">
              <a:lnSpc>
                <a:spcPts val="2700"/>
              </a:lnSpc>
              <a:buNone/>
            </a:pPr>
            <a:r>
              <a:rPr lang="en-US" sz="2150" dirty="0">
                <a:solidFill>
                  <a:srgbClr val="E5E0DF"/>
                </a:solidFill>
                <a:latin typeface="Barlow Medium" pitchFamily="34" charset="0"/>
                <a:ea typeface="Barlow Medium" pitchFamily="34" charset="-122"/>
                <a:cs typeface="Barlow Medium" pitchFamily="34" charset="-120"/>
              </a:rPr>
              <a:t>Sensors</a:t>
            </a:r>
            <a:endParaRPr lang="en-US" sz="2150" dirty="0"/>
          </a:p>
        </p:txBody>
      </p:sp>
      <p:sp>
        <p:nvSpPr>
          <p:cNvPr id="6" name="Text 3"/>
          <p:cNvSpPr/>
          <p:nvPr/>
        </p:nvSpPr>
        <p:spPr>
          <a:xfrm>
            <a:off x="6304836" y="3343632"/>
            <a:ext cx="1975009" cy="342900"/>
          </a:xfrm>
          <a:prstGeom prst="rect">
            <a:avLst/>
          </a:prstGeom>
          <a:noFill/>
          <a:ln/>
        </p:spPr>
        <p:txBody>
          <a:bodyPr wrap="none" lIns="0" tIns="0" rIns="0" bIns="0" rtlCol="0" anchor="t"/>
          <a:lstStyle/>
          <a:p>
            <a:pPr algn="l" indent="0" marL="0">
              <a:lnSpc>
                <a:spcPts val="2700"/>
              </a:lnSpc>
              <a:buNone/>
            </a:pPr>
            <a:r>
              <a:rPr lang="en-US" sz="2150" dirty="0">
                <a:solidFill>
                  <a:srgbClr val="E5E0DF"/>
                </a:solidFill>
                <a:latin typeface="Barlow Medium" pitchFamily="34" charset="0"/>
                <a:ea typeface="Barlow Medium" pitchFamily="34" charset="-122"/>
                <a:cs typeface="Barlow Medium" pitchFamily="34" charset="-120"/>
              </a:rPr>
              <a:t>Data Analytics</a:t>
            </a:r>
            <a:endParaRPr lang="en-US" sz="2150" dirty="0"/>
          </a:p>
        </p:txBody>
      </p:sp>
      <p:sp>
        <p:nvSpPr>
          <p:cNvPr id="7" name="Text 4"/>
          <p:cNvSpPr/>
          <p:nvPr/>
        </p:nvSpPr>
        <p:spPr>
          <a:xfrm>
            <a:off x="1114068" y="4427101"/>
            <a:ext cx="1975009" cy="342900"/>
          </a:xfrm>
          <a:prstGeom prst="rect">
            <a:avLst/>
          </a:prstGeom>
          <a:noFill/>
          <a:ln/>
        </p:spPr>
        <p:txBody>
          <a:bodyPr wrap="none" lIns="0" tIns="0" rIns="0" bIns="0" rtlCol="0" anchor="t"/>
          <a:lstStyle/>
          <a:p>
            <a:pPr algn="l" indent="0" marL="0">
              <a:lnSpc>
                <a:spcPts val="2700"/>
              </a:lnSpc>
              <a:buNone/>
            </a:pPr>
            <a:r>
              <a:rPr lang="en-US" sz="2150" dirty="0">
                <a:solidFill>
                  <a:srgbClr val="E5E0DF"/>
                </a:solidFill>
                <a:latin typeface="Barlow Medium" pitchFamily="34" charset="0"/>
                <a:ea typeface="Barlow Medium" pitchFamily="34" charset="-122"/>
                <a:cs typeface="Barlow Medium" pitchFamily="34" charset="-120"/>
              </a:rPr>
              <a:t>Controllers</a:t>
            </a:r>
            <a:endParaRPr lang="en-US" sz="2150" dirty="0"/>
          </a:p>
        </p:txBody>
      </p:sp>
      <p:sp>
        <p:nvSpPr>
          <p:cNvPr id="8" name="Text 5"/>
          <p:cNvSpPr/>
          <p:nvPr/>
        </p:nvSpPr>
        <p:spPr>
          <a:xfrm>
            <a:off x="864037" y="5047655"/>
            <a:ext cx="7415927" cy="1580198"/>
          </a:xfrm>
          <a:prstGeom prst="rect">
            <a:avLst/>
          </a:prstGeom>
          <a:noFill/>
          <a:ln/>
        </p:spPr>
        <p:txBody>
          <a:bodyPr wrap="square" lIns="0" tIns="0" rIns="0" bIns="0" rtlCol="0" anchor="t"/>
          <a:lstStyle/>
          <a:p>
            <a:pPr algn="l" indent="0" marL="0">
              <a:lnSpc>
                <a:spcPts val="3100"/>
              </a:lnSpc>
              <a:buNone/>
            </a:pPr>
            <a:r>
              <a:rPr lang="en-US" sz="1900" dirty="0">
                <a:solidFill>
                  <a:srgbClr val="E5E0DF"/>
                </a:solidFill>
                <a:latin typeface="Barlow" pitchFamily="34" charset="0"/>
                <a:ea typeface="Barlow" pitchFamily="34" charset="-122"/>
                <a:cs typeface="Barlow" pitchFamily="34" charset="-120"/>
              </a:rPr>
              <a:t>The smart irrigation system comprises drones, sensors, a data analytics platform, and automated irrigation controllers. Drones gather real-time data on soil moisture, plant health, and environmental conditions using multispectral and thermal cameras.</a:t>
            </a:r>
            <a:endParaRPr lang="en-US" sz="1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350437" y="1173123"/>
            <a:ext cx="7063264" cy="685800"/>
          </a:xfrm>
          <a:prstGeom prst="rect">
            <a:avLst/>
          </a:prstGeom>
          <a:noFill/>
          <a:ln/>
        </p:spPr>
        <p:txBody>
          <a:bodyPr wrap="none" lIns="0" tIns="0" rIns="0" bIns="0" rtlCol="0" anchor="t"/>
          <a:lstStyle/>
          <a:p>
            <a:pPr algn="l" indent="0" marL="0">
              <a:lnSpc>
                <a:spcPts val="5400"/>
              </a:lnSpc>
              <a:buNone/>
            </a:pPr>
            <a:r>
              <a:rPr lang="en-US" sz="4300" dirty="0">
                <a:solidFill>
                  <a:srgbClr val="FFFFFF"/>
                </a:solidFill>
                <a:latin typeface="Barlow Medium" pitchFamily="34" charset="0"/>
                <a:ea typeface="Barlow Medium" pitchFamily="34" charset="-122"/>
                <a:cs typeface="Barlow Medium" pitchFamily="34" charset="-120"/>
              </a:rPr>
              <a:t>How Drone Technology Works</a:t>
            </a:r>
            <a:endParaRPr lang="en-US" sz="4300" dirty="0"/>
          </a:p>
        </p:txBody>
      </p:sp>
      <p:sp>
        <p:nvSpPr>
          <p:cNvPr id="4" name="Shape 1"/>
          <p:cNvSpPr/>
          <p:nvPr/>
        </p:nvSpPr>
        <p:spPr>
          <a:xfrm>
            <a:off x="6350437" y="2506861"/>
            <a:ext cx="555427" cy="555427"/>
          </a:xfrm>
          <a:prstGeom prst="roundRect">
            <a:avLst>
              <a:gd name="adj" fmla="val 18669"/>
            </a:avLst>
          </a:prstGeom>
          <a:solidFill>
            <a:srgbClr val="790709"/>
          </a:solidFill>
          <a:ln w="15240">
            <a:solidFill>
              <a:srgbClr val="922022"/>
            </a:solidFill>
            <a:prstDash val="solid"/>
          </a:ln>
        </p:spPr>
      </p:sp>
      <p:sp>
        <p:nvSpPr>
          <p:cNvPr id="5" name="Text 2"/>
          <p:cNvSpPr/>
          <p:nvPr/>
        </p:nvSpPr>
        <p:spPr>
          <a:xfrm>
            <a:off x="6463546" y="2578775"/>
            <a:ext cx="329089" cy="411480"/>
          </a:xfrm>
          <a:prstGeom prst="rect">
            <a:avLst/>
          </a:prstGeom>
          <a:noFill/>
          <a:ln/>
        </p:spPr>
        <p:txBody>
          <a:bodyPr wrap="none" lIns="0" tIns="0" rIns="0" bIns="0" rtlCol="0" anchor="t"/>
          <a:lstStyle/>
          <a:p>
            <a:pPr algn="ctr" indent="0" marL="0">
              <a:lnSpc>
                <a:spcPts val="2550"/>
              </a:lnSpc>
              <a:buNone/>
            </a:pPr>
            <a:r>
              <a:rPr lang="en-US" sz="2550" dirty="0">
                <a:solidFill>
                  <a:srgbClr val="E5E0DF"/>
                </a:solidFill>
                <a:latin typeface="Barlow Medium" pitchFamily="34" charset="0"/>
                <a:ea typeface="Barlow Medium" pitchFamily="34" charset="-122"/>
                <a:cs typeface="Barlow Medium" pitchFamily="34" charset="-120"/>
              </a:rPr>
              <a:t>1</a:t>
            </a:r>
            <a:endParaRPr lang="en-US" sz="2550" dirty="0"/>
          </a:p>
        </p:txBody>
      </p:sp>
      <p:sp>
        <p:nvSpPr>
          <p:cNvPr id="6" name="Text 3"/>
          <p:cNvSpPr/>
          <p:nvPr/>
        </p:nvSpPr>
        <p:spPr>
          <a:xfrm>
            <a:off x="7152680" y="2506861"/>
            <a:ext cx="2743200" cy="342900"/>
          </a:xfrm>
          <a:prstGeom prst="rect">
            <a:avLst/>
          </a:prstGeom>
          <a:noFill/>
          <a:ln/>
        </p:spPr>
        <p:txBody>
          <a:bodyPr wrap="none" lIns="0" tIns="0" rIns="0" bIns="0" rtlCol="0" anchor="t"/>
          <a:lstStyle/>
          <a:p>
            <a:pPr algn="l" indent="0" marL="0">
              <a:lnSpc>
                <a:spcPts val="2700"/>
              </a:lnSpc>
              <a:buNone/>
            </a:pPr>
            <a:r>
              <a:rPr lang="en-US" sz="2150" dirty="0">
                <a:solidFill>
                  <a:srgbClr val="E5E0DF"/>
                </a:solidFill>
                <a:latin typeface="Barlow Medium" pitchFamily="34" charset="0"/>
                <a:ea typeface="Barlow Medium" pitchFamily="34" charset="-122"/>
                <a:cs typeface="Barlow Medium" pitchFamily="34" charset="-120"/>
              </a:rPr>
              <a:t>Multispectral Imaging</a:t>
            </a:r>
            <a:endParaRPr lang="en-US" sz="2150" dirty="0"/>
          </a:p>
        </p:txBody>
      </p:sp>
      <p:sp>
        <p:nvSpPr>
          <p:cNvPr id="7" name="Text 4"/>
          <p:cNvSpPr/>
          <p:nvPr/>
        </p:nvSpPr>
        <p:spPr>
          <a:xfrm>
            <a:off x="7152680" y="2997875"/>
            <a:ext cx="2782372" cy="1185148"/>
          </a:xfrm>
          <a:prstGeom prst="rect">
            <a:avLst/>
          </a:prstGeom>
          <a:noFill/>
          <a:ln/>
        </p:spPr>
        <p:txBody>
          <a:bodyPr wrap="square" lIns="0" tIns="0" rIns="0" bIns="0" rtlCol="0" anchor="t"/>
          <a:lstStyle/>
          <a:p>
            <a:pPr algn="l" indent="0" marL="0">
              <a:lnSpc>
                <a:spcPts val="3100"/>
              </a:lnSpc>
              <a:buNone/>
            </a:pPr>
            <a:r>
              <a:rPr lang="en-US" sz="1900" dirty="0">
                <a:solidFill>
                  <a:srgbClr val="E5E0DF"/>
                </a:solidFill>
                <a:latin typeface="Barlow" pitchFamily="34" charset="0"/>
                <a:ea typeface="Barlow" pitchFamily="34" charset="-122"/>
                <a:cs typeface="Barlow" pitchFamily="34" charset="-120"/>
              </a:rPr>
              <a:t>Identifies plant stress, nutrient deficiencies, and disease.</a:t>
            </a:r>
            <a:endParaRPr lang="en-US" sz="1900" dirty="0"/>
          </a:p>
        </p:txBody>
      </p:sp>
      <p:sp>
        <p:nvSpPr>
          <p:cNvPr id="8" name="Shape 5"/>
          <p:cNvSpPr/>
          <p:nvPr/>
        </p:nvSpPr>
        <p:spPr>
          <a:xfrm>
            <a:off x="10181868" y="2506861"/>
            <a:ext cx="555427" cy="555427"/>
          </a:xfrm>
          <a:prstGeom prst="roundRect">
            <a:avLst>
              <a:gd name="adj" fmla="val 18669"/>
            </a:avLst>
          </a:prstGeom>
          <a:solidFill>
            <a:srgbClr val="790709"/>
          </a:solidFill>
          <a:ln w="15240">
            <a:solidFill>
              <a:srgbClr val="922022"/>
            </a:solidFill>
            <a:prstDash val="solid"/>
          </a:ln>
        </p:spPr>
      </p:sp>
      <p:sp>
        <p:nvSpPr>
          <p:cNvPr id="9" name="Text 6"/>
          <p:cNvSpPr/>
          <p:nvPr/>
        </p:nvSpPr>
        <p:spPr>
          <a:xfrm>
            <a:off x="10294977" y="2578775"/>
            <a:ext cx="329089" cy="411480"/>
          </a:xfrm>
          <a:prstGeom prst="rect">
            <a:avLst/>
          </a:prstGeom>
          <a:noFill/>
          <a:ln/>
        </p:spPr>
        <p:txBody>
          <a:bodyPr wrap="none" lIns="0" tIns="0" rIns="0" bIns="0" rtlCol="0" anchor="t"/>
          <a:lstStyle/>
          <a:p>
            <a:pPr algn="ctr" indent="0" marL="0">
              <a:lnSpc>
                <a:spcPts val="2550"/>
              </a:lnSpc>
              <a:buNone/>
            </a:pPr>
            <a:r>
              <a:rPr lang="en-US" sz="2550" dirty="0">
                <a:solidFill>
                  <a:srgbClr val="E5E0DF"/>
                </a:solidFill>
                <a:latin typeface="Barlow Medium" pitchFamily="34" charset="0"/>
                <a:ea typeface="Barlow Medium" pitchFamily="34" charset="-122"/>
                <a:cs typeface="Barlow Medium" pitchFamily="34" charset="-120"/>
              </a:rPr>
              <a:t>2</a:t>
            </a:r>
            <a:endParaRPr lang="en-US" sz="2550" dirty="0"/>
          </a:p>
        </p:txBody>
      </p:sp>
      <p:sp>
        <p:nvSpPr>
          <p:cNvPr id="10" name="Text 7"/>
          <p:cNvSpPr/>
          <p:nvPr/>
        </p:nvSpPr>
        <p:spPr>
          <a:xfrm>
            <a:off x="10984111" y="2506861"/>
            <a:ext cx="2743200" cy="342900"/>
          </a:xfrm>
          <a:prstGeom prst="rect">
            <a:avLst/>
          </a:prstGeom>
          <a:noFill/>
          <a:ln/>
        </p:spPr>
        <p:txBody>
          <a:bodyPr wrap="none" lIns="0" tIns="0" rIns="0" bIns="0" rtlCol="0" anchor="t"/>
          <a:lstStyle/>
          <a:p>
            <a:pPr algn="l" indent="0" marL="0">
              <a:lnSpc>
                <a:spcPts val="2700"/>
              </a:lnSpc>
              <a:buNone/>
            </a:pPr>
            <a:r>
              <a:rPr lang="en-US" sz="2150" dirty="0">
                <a:solidFill>
                  <a:srgbClr val="E5E0DF"/>
                </a:solidFill>
                <a:latin typeface="Barlow Medium" pitchFamily="34" charset="0"/>
                <a:ea typeface="Barlow Medium" pitchFamily="34" charset="-122"/>
                <a:cs typeface="Barlow Medium" pitchFamily="34" charset="-120"/>
              </a:rPr>
              <a:t>Thermal Imaging</a:t>
            </a:r>
            <a:endParaRPr lang="en-US" sz="2150" dirty="0"/>
          </a:p>
        </p:txBody>
      </p:sp>
      <p:sp>
        <p:nvSpPr>
          <p:cNvPr id="11" name="Text 8"/>
          <p:cNvSpPr/>
          <p:nvPr/>
        </p:nvSpPr>
        <p:spPr>
          <a:xfrm>
            <a:off x="10984111" y="2997875"/>
            <a:ext cx="2782372" cy="1185148"/>
          </a:xfrm>
          <a:prstGeom prst="rect">
            <a:avLst/>
          </a:prstGeom>
          <a:noFill/>
          <a:ln/>
        </p:spPr>
        <p:txBody>
          <a:bodyPr wrap="square" lIns="0" tIns="0" rIns="0" bIns="0" rtlCol="0" anchor="t"/>
          <a:lstStyle/>
          <a:p>
            <a:pPr algn="l" indent="0" marL="0">
              <a:lnSpc>
                <a:spcPts val="3100"/>
              </a:lnSpc>
              <a:buNone/>
            </a:pPr>
            <a:r>
              <a:rPr lang="en-US" sz="1900" dirty="0">
                <a:solidFill>
                  <a:srgbClr val="E5E0DF"/>
                </a:solidFill>
                <a:latin typeface="Barlow" pitchFamily="34" charset="0"/>
                <a:ea typeface="Barlow" pitchFamily="34" charset="-122"/>
                <a:cs typeface="Barlow" pitchFamily="34" charset="-120"/>
              </a:rPr>
              <a:t>Detects water stress by measuring leaf temperature.</a:t>
            </a:r>
            <a:endParaRPr lang="en-US" sz="1900" dirty="0"/>
          </a:p>
        </p:txBody>
      </p:sp>
      <p:sp>
        <p:nvSpPr>
          <p:cNvPr id="12" name="Shape 9"/>
          <p:cNvSpPr/>
          <p:nvPr/>
        </p:nvSpPr>
        <p:spPr>
          <a:xfrm>
            <a:off x="6350437" y="4707493"/>
            <a:ext cx="555427" cy="555427"/>
          </a:xfrm>
          <a:prstGeom prst="roundRect">
            <a:avLst>
              <a:gd name="adj" fmla="val 18669"/>
            </a:avLst>
          </a:prstGeom>
          <a:solidFill>
            <a:srgbClr val="790709"/>
          </a:solidFill>
          <a:ln w="15240">
            <a:solidFill>
              <a:srgbClr val="922022"/>
            </a:solidFill>
            <a:prstDash val="solid"/>
          </a:ln>
        </p:spPr>
      </p:sp>
      <p:sp>
        <p:nvSpPr>
          <p:cNvPr id="13" name="Text 10"/>
          <p:cNvSpPr/>
          <p:nvPr/>
        </p:nvSpPr>
        <p:spPr>
          <a:xfrm>
            <a:off x="6463546" y="4779407"/>
            <a:ext cx="329089" cy="411480"/>
          </a:xfrm>
          <a:prstGeom prst="rect">
            <a:avLst/>
          </a:prstGeom>
          <a:noFill/>
          <a:ln/>
        </p:spPr>
        <p:txBody>
          <a:bodyPr wrap="none" lIns="0" tIns="0" rIns="0" bIns="0" rtlCol="0" anchor="t"/>
          <a:lstStyle/>
          <a:p>
            <a:pPr algn="ctr" indent="0" marL="0">
              <a:lnSpc>
                <a:spcPts val="2550"/>
              </a:lnSpc>
              <a:buNone/>
            </a:pPr>
            <a:r>
              <a:rPr lang="en-US" sz="2550" dirty="0">
                <a:solidFill>
                  <a:srgbClr val="E5E0DF"/>
                </a:solidFill>
                <a:latin typeface="Barlow Medium" pitchFamily="34" charset="0"/>
                <a:ea typeface="Barlow Medium" pitchFamily="34" charset="-122"/>
                <a:cs typeface="Barlow Medium" pitchFamily="34" charset="-120"/>
              </a:rPr>
              <a:t>3</a:t>
            </a:r>
            <a:endParaRPr lang="en-US" sz="2550" dirty="0"/>
          </a:p>
        </p:txBody>
      </p:sp>
      <p:sp>
        <p:nvSpPr>
          <p:cNvPr id="14" name="Text 11"/>
          <p:cNvSpPr/>
          <p:nvPr/>
        </p:nvSpPr>
        <p:spPr>
          <a:xfrm>
            <a:off x="7152680" y="4707493"/>
            <a:ext cx="2743200" cy="342900"/>
          </a:xfrm>
          <a:prstGeom prst="rect">
            <a:avLst/>
          </a:prstGeom>
          <a:noFill/>
          <a:ln/>
        </p:spPr>
        <p:txBody>
          <a:bodyPr wrap="none" lIns="0" tIns="0" rIns="0" bIns="0" rtlCol="0" anchor="t"/>
          <a:lstStyle/>
          <a:p>
            <a:pPr algn="l" indent="0" marL="0">
              <a:lnSpc>
                <a:spcPts val="2700"/>
              </a:lnSpc>
              <a:buNone/>
            </a:pPr>
            <a:r>
              <a:rPr lang="en-US" sz="2150" dirty="0">
                <a:solidFill>
                  <a:srgbClr val="E5E0DF"/>
                </a:solidFill>
                <a:latin typeface="Barlow Medium" pitchFamily="34" charset="0"/>
                <a:ea typeface="Barlow Medium" pitchFamily="34" charset="-122"/>
                <a:cs typeface="Barlow Medium" pitchFamily="34" charset="-120"/>
              </a:rPr>
              <a:t>LiDAR</a:t>
            </a:r>
            <a:endParaRPr lang="en-US" sz="2150" dirty="0"/>
          </a:p>
        </p:txBody>
      </p:sp>
      <p:sp>
        <p:nvSpPr>
          <p:cNvPr id="15" name="Text 12"/>
          <p:cNvSpPr/>
          <p:nvPr/>
        </p:nvSpPr>
        <p:spPr>
          <a:xfrm>
            <a:off x="7152680" y="5198507"/>
            <a:ext cx="6613684" cy="395049"/>
          </a:xfrm>
          <a:prstGeom prst="rect">
            <a:avLst/>
          </a:prstGeom>
          <a:noFill/>
          <a:ln/>
        </p:spPr>
        <p:txBody>
          <a:bodyPr wrap="none" lIns="0" tIns="0" rIns="0" bIns="0" rtlCol="0" anchor="t"/>
          <a:lstStyle/>
          <a:p>
            <a:pPr algn="l" indent="0" marL="0">
              <a:lnSpc>
                <a:spcPts val="3100"/>
              </a:lnSpc>
              <a:buNone/>
            </a:pPr>
            <a:r>
              <a:rPr lang="en-US" sz="1900" dirty="0">
                <a:solidFill>
                  <a:srgbClr val="E5E0DF"/>
                </a:solidFill>
                <a:latin typeface="Barlow" pitchFamily="34" charset="0"/>
                <a:ea typeface="Barlow" pitchFamily="34" charset="-122"/>
                <a:cs typeface="Barlow" pitchFamily="34" charset="-120"/>
              </a:rPr>
              <a:t>Creates 3D terrain maps for accurate water distribution.</a:t>
            </a:r>
            <a:endParaRPr lang="en-US" sz="1900" dirty="0"/>
          </a:p>
        </p:txBody>
      </p:sp>
      <p:sp>
        <p:nvSpPr>
          <p:cNvPr id="16" name="Text 13"/>
          <p:cNvSpPr/>
          <p:nvPr/>
        </p:nvSpPr>
        <p:spPr>
          <a:xfrm>
            <a:off x="6350437" y="5871210"/>
            <a:ext cx="7415927" cy="1185148"/>
          </a:xfrm>
          <a:prstGeom prst="rect">
            <a:avLst/>
          </a:prstGeom>
          <a:noFill/>
          <a:ln/>
        </p:spPr>
        <p:txBody>
          <a:bodyPr wrap="square" lIns="0" tIns="0" rIns="0" bIns="0" rtlCol="0" anchor="t"/>
          <a:lstStyle/>
          <a:p>
            <a:pPr algn="l" indent="0" marL="0">
              <a:lnSpc>
                <a:spcPts val="3100"/>
              </a:lnSpc>
              <a:buNone/>
            </a:pPr>
            <a:r>
              <a:rPr lang="en-US" sz="1900" dirty="0">
                <a:solidFill>
                  <a:srgbClr val="E5E0DF"/>
                </a:solidFill>
                <a:latin typeface="Barlow" pitchFamily="34" charset="0"/>
                <a:ea typeface="Barlow" pitchFamily="34" charset="-122"/>
                <a:cs typeface="Barlow" pitchFamily="34" charset="-120"/>
              </a:rPr>
              <a:t>Drones like the DJI Matrice 300 RTK, equipped with a P4 Multispectral camera, provide highly accurate data (within 2cm) for effective water distribution planning.</a:t>
            </a:r>
            <a:endParaRPr lang="en-US" sz="1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864037" y="1415415"/>
            <a:ext cx="10516433" cy="685800"/>
          </a:xfrm>
          <a:prstGeom prst="rect">
            <a:avLst/>
          </a:prstGeom>
          <a:noFill/>
          <a:ln/>
        </p:spPr>
        <p:txBody>
          <a:bodyPr wrap="none" lIns="0" tIns="0" rIns="0" bIns="0" rtlCol="0" anchor="t"/>
          <a:lstStyle/>
          <a:p>
            <a:pPr algn="l" indent="0" marL="0">
              <a:lnSpc>
                <a:spcPts val="5400"/>
              </a:lnSpc>
              <a:buNone/>
            </a:pPr>
            <a:r>
              <a:rPr lang="en-US" sz="4300" dirty="0">
                <a:solidFill>
                  <a:srgbClr val="FFFFFF"/>
                </a:solidFill>
                <a:latin typeface="Barlow Medium" pitchFamily="34" charset="0"/>
                <a:ea typeface="Barlow Medium" pitchFamily="34" charset="-122"/>
                <a:cs typeface="Barlow Medium" pitchFamily="34" charset="-120"/>
              </a:rPr>
              <a:t>Data Analytics Platform: Actionable Insights</a:t>
            </a:r>
            <a:endParaRPr lang="en-US" sz="4300" dirty="0"/>
          </a:p>
        </p:txBody>
      </p:sp>
      <p:sp>
        <p:nvSpPr>
          <p:cNvPr id="3" name="Shape 1"/>
          <p:cNvSpPr/>
          <p:nvPr/>
        </p:nvSpPr>
        <p:spPr>
          <a:xfrm>
            <a:off x="864037" y="2594967"/>
            <a:ext cx="2150269" cy="836533"/>
          </a:xfrm>
          <a:prstGeom prst="roundRect">
            <a:avLst>
              <a:gd name="adj" fmla="val 12396"/>
            </a:avLst>
          </a:prstGeom>
          <a:solidFill>
            <a:srgbClr val="790709"/>
          </a:solidFill>
          <a:ln w="15240">
            <a:solidFill>
              <a:srgbClr val="922022"/>
            </a:solidFill>
            <a:prstDash val="solid"/>
          </a:ln>
        </p:spPr>
      </p:sp>
      <p:sp>
        <p:nvSpPr>
          <p:cNvPr id="4" name="Text 2"/>
          <p:cNvSpPr/>
          <p:nvPr/>
        </p:nvSpPr>
        <p:spPr>
          <a:xfrm>
            <a:off x="1765578" y="2796183"/>
            <a:ext cx="347186" cy="433983"/>
          </a:xfrm>
          <a:prstGeom prst="rect">
            <a:avLst/>
          </a:prstGeom>
          <a:noFill/>
          <a:ln/>
        </p:spPr>
        <p:txBody>
          <a:bodyPr wrap="none" lIns="0" tIns="0" rIns="0" bIns="0" rtlCol="0" anchor="t"/>
          <a:lstStyle/>
          <a:p>
            <a:pPr algn="ctr" indent="0" marL="0">
              <a:lnSpc>
                <a:spcPts val="4350"/>
              </a:lnSpc>
              <a:buNone/>
            </a:pPr>
            <a:r>
              <a:rPr lang="en-US" sz="2700" dirty="0">
                <a:solidFill>
                  <a:srgbClr val="E5E0DF"/>
                </a:solidFill>
                <a:latin typeface="Barlow Medium" pitchFamily="34" charset="0"/>
                <a:ea typeface="Barlow Medium" pitchFamily="34" charset="-122"/>
                <a:cs typeface="Barlow Medium" pitchFamily="34" charset="-120"/>
              </a:rPr>
              <a:t>1</a:t>
            </a:r>
            <a:endParaRPr lang="en-US" sz="2700" dirty="0"/>
          </a:p>
        </p:txBody>
      </p:sp>
      <p:sp>
        <p:nvSpPr>
          <p:cNvPr id="5" name="Text 3"/>
          <p:cNvSpPr/>
          <p:nvPr/>
        </p:nvSpPr>
        <p:spPr>
          <a:xfrm>
            <a:off x="3261122" y="2841784"/>
            <a:ext cx="1940004" cy="342900"/>
          </a:xfrm>
          <a:prstGeom prst="rect">
            <a:avLst/>
          </a:prstGeom>
          <a:noFill/>
          <a:ln/>
        </p:spPr>
        <p:txBody>
          <a:bodyPr wrap="none" lIns="0" tIns="0" rIns="0" bIns="0" rtlCol="0" anchor="t"/>
          <a:lstStyle/>
          <a:p>
            <a:pPr algn="l" indent="0" marL="0">
              <a:lnSpc>
                <a:spcPts val="2700"/>
              </a:lnSpc>
              <a:buNone/>
            </a:pPr>
            <a:r>
              <a:rPr lang="en-US" sz="2150" dirty="0">
                <a:solidFill>
                  <a:srgbClr val="E5E0DF"/>
                </a:solidFill>
                <a:latin typeface="Barlow Medium" pitchFamily="34" charset="0"/>
                <a:ea typeface="Barlow Medium" pitchFamily="34" charset="-122"/>
                <a:cs typeface="Barlow Medium" pitchFamily="34" charset="-120"/>
              </a:rPr>
              <a:t>Data Processing</a:t>
            </a:r>
            <a:endParaRPr lang="en-US" sz="2150" dirty="0"/>
          </a:p>
        </p:txBody>
      </p:sp>
      <p:sp>
        <p:nvSpPr>
          <p:cNvPr id="6" name="Shape 4"/>
          <p:cNvSpPr/>
          <p:nvPr/>
        </p:nvSpPr>
        <p:spPr>
          <a:xfrm>
            <a:off x="3137654" y="3416260"/>
            <a:ext cx="10505361" cy="15240"/>
          </a:xfrm>
          <a:prstGeom prst="roundRect">
            <a:avLst>
              <a:gd name="adj" fmla="val 680400"/>
            </a:avLst>
          </a:prstGeom>
          <a:solidFill>
            <a:srgbClr val="922022"/>
          </a:solidFill>
          <a:ln/>
        </p:spPr>
      </p:sp>
      <p:sp>
        <p:nvSpPr>
          <p:cNvPr id="7" name="Shape 5"/>
          <p:cNvSpPr/>
          <p:nvPr/>
        </p:nvSpPr>
        <p:spPr>
          <a:xfrm>
            <a:off x="864037" y="3554849"/>
            <a:ext cx="4300657" cy="836533"/>
          </a:xfrm>
          <a:prstGeom prst="roundRect">
            <a:avLst>
              <a:gd name="adj" fmla="val 12396"/>
            </a:avLst>
          </a:prstGeom>
          <a:solidFill>
            <a:srgbClr val="790709"/>
          </a:solidFill>
          <a:ln w="15240">
            <a:solidFill>
              <a:srgbClr val="922022"/>
            </a:solidFill>
            <a:prstDash val="solid"/>
          </a:ln>
        </p:spPr>
      </p:sp>
      <p:sp>
        <p:nvSpPr>
          <p:cNvPr id="8" name="Text 6"/>
          <p:cNvSpPr/>
          <p:nvPr/>
        </p:nvSpPr>
        <p:spPr>
          <a:xfrm>
            <a:off x="2840712" y="3756065"/>
            <a:ext cx="347186" cy="433983"/>
          </a:xfrm>
          <a:prstGeom prst="rect">
            <a:avLst/>
          </a:prstGeom>
          <a:noFill/>
          <a:ln/>
        </p:spPr>
        <p:txBody>
          <a:bodyPr wrap="none" lIns="0" tIns="0" rIns="0" bIns="0" rtlCol="0" anchor="t"/>
          <a:lstStyle/>
          <a:p>
            <a:pPr algn="ctr" indent="0" marL="0">
              <a:lnSpc>
                <a:spcPts val="4350"/>
              </a:lnSpc>
              <a:buNone/>
            </a:pPr>
            <a:r>
              <a:rPr lang="en-US" sz="2700" dirty="0">
                <a:solidFill>
                  <a:srgbClr val="E5E0DF"/>
                </a:solidFill>
                <a:latin typeface="Barlow Medium" pitchFamily="34" charset="0"/>
                <a:ea typeface="Barlow Medium" pitchFamily="34" charset="-122"/>
                <a:cs typeface="Barlow Medium" pitchFamily="34" charset="-120"/>
              </a:rPr>
              <a:t>2</a:t>
            </a:r>
            <a:endParaRPr lang="en-US" sz="2700" dirty="0"/>
          </a:p>
        </p:txBody>
      </p:sp>
      <p:sp>
        <p:nvSpPr>
          <p:cNvPr id="9" name="Text 7"/>
          <p:cNvSpPr/>
          <p:nvPr/>
        </p:nvSpPr>
        <p:spPr>
          <a:xfrm>
            <a:off x="5411510" y="3801666"/>
            <a:ext cx="2111812" cy="342900"/>
          </a:xfrm>
          <a:prstGeom prst="rect">
            <a:avLst/>
          </a:prstGeom>
          <a:noFill/>
          <a:ln/>
        </p:spPr>
        <p:txBody>
          <a:bodyPr wrap="none" lIns="0" tIns="0" rIns="0" bIns="0" rtlCol="0" anchor="t"/>
          <a:lstStyle/>
          <a:p>
            <a:pPr algn="l" indent="0" marL="0">
              <a:lnSpc>
                <a:spcPts val="2700"/>
              </a:lnSpc>
              <a:buNone/>
            </a:pPr>
            <a:r>
              <a:rPr lang="en-US" sz="2150" dirty="0">
                <a:solidFill>
                  <a:srgbClr val="E5E0DF"/>
                </a:solidFill>
                <a:latin typeface="Barlow Medium" pitchFamily="34" charset="0"/>
                <a:ea typeface="Barlow Medium" pitchFamily="34" charset="-122"/>
                <a:cs typeface="Barlow Medium" pitchFamily="34" charset="-120"/>
              </a:rPr>
              <a:t>Machine Learning</a:t>
            </a:r>
            <a:endParaRPr lang="en-US" sz="2150" dirty="0"/>
          </a:p>
        </p:txBody>
      </p:sp>
      <p:sp>
        <p:nvSpPr>
          <p:cNvPr id="10" name="Shape 8"/>
          <p:cNvSpPr/>
          <p:nvPr/>
        </p:nvSpPr>
        <p:spPr>
          <a:xfrm>
            <a:off x="5288042" y="4376142"/>
            <a:ext cx="8354973" cy="15240"/>
          </a:xfrm>
          <a:prstGeom prst="roundRect">
            <a:avLst>
              <a:gd name="adj" fmla="val 680400"/>
            </a:avLst>
          </a:prstGeom>
          <a:solidFill>
            <a:srgbClr val="922022"/>
          </a:solidFill>
          <a:ln/>
        </p:spPr>
      </p:sp>
      <p:sp>
        <p:nvSpPr>
          <p:cNvPr id="11" name="Shape 9"/>
          <p:cNvSpPr/>
          <p:nvPr/>
        </p:nvSpPr>
        <p:spPr>
          <a:xfrm>
            <a:off x="864037" y="4514731"/>
            <a:ext cx="6451163" cy="836533"/>
          </a:xfrm>
          <a:prstGeom prst="roundRect">
            <a:avLst>
              <a:gd name="adj" fmla="val 12396"/>
            </a:avLst>
          </a:prstGeom>
          <a:solidFill>
            <a:srgbClr val="790709"/>
          </a:solidFill>
          <a:ln w="15240">
            <a:solidFill>
              <a:srgbClr val="922022"/>
            </a:solidFill>
            <a:prstDash val="solid"/>
          </a:ln>
        </p:spPr>
      </p:sp>
      <p:sp>
        <p:nvSpPr>
          <p:cNvPr id="12" name="Text 10"/>
          <p:cNvSpPr/>
          <p:nvPr/>
        </p:nvSpPr>
        <p:spPr>
          <a:xfrm>
            <a:off x="3915966" y="4715947"/>
            <a:ext cx="347186" cy="433983"/>
          </a:xfrm>
          <a:prstGeom prst="rect">
            <a:avLst/>
          </a:prstGeom>
          <a:noFill/>
          <a:ln/>
        </p:spPr>
        <p:txBody>
          <a:bodyPr wrap="none" lIns="0" tIns="0" rIns="0" bIns="0" rtlCol="0" anchor="t"/>
          <a:lstStyle/>
          <a:p>
            <a:pPr algn="ctr" indent="0" marL="0">
              <a:lnSpc>
                <a:spcPts val="4350"/>
              </a:lnSpc>
              <a:buNone/>
            </a:pPr>
            <a:r>
              <a:rPr lang="en-US" sz="2700" dirty="0">
                <a:solidFill>
                  <a:srgbClr val="E5E0DF"/>
                </a:solidFill>
                <a:latin typeface="Barlow Medium" pitchFamily="34" charset="0"/>
                <a:ea typeface="Barlow Medium" pitchFamily="34" charset="-122"/>
                <a:cs typeface="Barlow Medium" pitchFamily="34" charset="-120"/>
              </a:rPr>
              <a:t>3</a:t>
            </a:r>
            <a:endParaRPr lang="en-US" sz="2700" dirty="0"/>
          </a:p>
        </p:txBody>
      </p:sp>
      <p:sp>
        <p:nvSpPr>
          <p:cNvPr id="13" name="Text 11"/>
          <p:cNvSpPr/>
          <p:nvPr/>
        </p:nvSpPr>
        <p:spPr>
          <a:xfrm>
            <a:off x="7562017" y="4761548"/>
            <a:ext cx="1630323" cy="342900"/>
          </a:xfrm>
          <a:prstGeom prst="rect">
            <a:avLst/>
          </a:prstGeom>
          <a:noFill/>
          <a:ln/>
        </p:spPr>
        <p:txBody>
          <a:bodyPr wrap="none" lIns="0" tIns="0" rIns="0" bIns="0" rtlCol="0" anchor="t"/>
          <a:lstStyle/>
          <a:p>
            <a:pPr algn="l" indent="0" marL="0">
              <a:lnSpc>
                <a:spcPts val="2700"/>
              </a:lnSpc>
              <a:buNone/>
            </a:pPr>
            <a:r>
              <a:rPr lang="en-US" sz="2150" dirty="0">
                <a:solidFill>
                  <a:srgbClr val="E5E0DF"/>
                </a:solidFill>
                <a:latin typeface="Barlow Medium" pitchFamily="34" charset="0"/>
                <a:ea typeface="Barlow Medium" pitchFamily="34" charset="-122"/>
                <a:cs typeface="Barlow Medium" pitchFamily="34" charset="-120"/>
              </a:rPr>
              <a:t>Custom Plans</a:t>
            </a:r>
            <a:endParaRPr lang="en-US" sz="2150" dirty="0"/>
          </a:p>
        </p:txBody>
      </p:sp>
      <p:sp>
        <p:nvSpPr>
          <p:cNvPr id="14" name="Text 12"/>
          <p:cNvSpPr/>
          <p:nvPr/>
        </p:nvSpPr>
        <p:spPr>
          <a:xfrm>
            <a:off x="864037" y="5628918"/>
            <a:ext cx="12902327" cy="1185148"/>
          </a:xfrm>
          <a:prstGeom prst="rect">
            <a:avLst/>
          </a:prstGeom>
          <a:noFill/>
          <a:ln/>
        </p:spPr>
        <p:txBody>
          <a:bodyPr wrap="square" lIns="0" tIns="0" rIns="0" bIns="0" rtlCol="0" anchor="t"/>
          <a:lstStyle/>
          <a:p>
            <a:pPr algn="l" indent="0" marL="0">
              <a:lnSpc>
                <a:spcPts val="3100"/>
              </a:lnSpc>
              <a:buNone/>
            </a:pPr>
            <a:r>
              <a:rPr lang="en-US" sz="1900" dirty="0">
                <a:solidFill>
                  <a:srgbClr val="E5E0DF"/>
                </a:solidFill>
                <a:latin typeface="Barlow" pitchFamily="34" charset="0"/>
                <a:ea typeface="Barlow" pitchFamily="34" charset="-122"/>
                <a:cs typeface="Barlow" pitchFamily="34" charset="-120"/>
              </a:rPr>
              <a:t>The cloud-based platform analyzes drone-captured data using machine learning algorithms to predict water requirements. It generates customized irrigation plans based on real-time conditions and integrates with existing systems.</a:t>
            </a:r>
            <a:endParaRPr lang="en-US" sz="1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864037" y="733187"/>
            <a:ext cx="10315575" cy="685800"/>
          </a:xfrm>
          <a:prstGeom prst="rect">
            <a:avLst/>
          </a:prstGeom>
          <a:noFill/>
          <a:ln/>
        </p:spPr>
        <p:txBody>
          <a:bodyPr wrap="none" lIns="0" tIns="0" rIns="0" bIns="0" rtlCol="0" anchor="t"/>
          <a:lstStyle/>
          <a:p>
            <a:pPr algn="l" indent="0" marL="0">
              <a:lnSpc>
                <a:spcPts val="5400"/>
              </a:lnSpc>
              <a:buNone/>
            </a:pPr>
            <a:r>
              <a:rPr lang="en-US" sz="4300" dirty="0">
                <a:solidFill>
                  <a:srgbClr val="FFFFFF"/>
                </a:solidFill>
                <a:latin typeface="Barlow Medium" pitchFamily="34" charset="0"/>
                <a:ea typeface="Barlow Medium" pitchFamily="34" charset="-122"/>
                <a:cs typeface="Barlow Medium" pitchFamily="34" charset="-120"/>
              </a:rPr>
              <a:t>Automated Irrigation Controllers: Precision</a:t>
            </a:r>
            <a:endParaRPr lang="en-US" sz="4300" dirty="0"/>
          </a:p>
        </p:txBody>
      </p:sp>
      <p:sp>
        <p:nvSpPr>
          <p:cNvPr id="3" name="Text 1"/>
          <p:cNvSpPr/>
          <p:nvPr/>
        </p:nvSpPr>
        <p:spPr>
          <a:xfrm>
            <a:off x="1583769" y="3530084"/>
            <a:ext cx="2979777" cy="342900"/>
          </a:xfrm>
          <a:prstGeom prst="rect">
            <a:avLst/>
          </a:prstGeom>
          <a:noFill/>
          <a:ln/>
        </p:spPr>
        <p:txBody>
          <a:bodyPr wrap="none" lIns="0" tIns="0" rIns="0" bIns="0" rtlCol="0" anchor="t"/>
          <a:lstStyle/>
          <a:p>
            <a:pPr algn="r" indent="0" marL="0">
              <a:lnSpc>
                <a:spcPts val="2700"/>
              </a:lnSpc>
              <a:buNone/>
            </a:pPr>
            <a:r>
              <a:rPr lang="en-US" sz="2150" dirty="0">
                <a:solidFill>
                  <a:srgbClr val="E5E0DF"/>
                </a:solidFill>
                <a:latin typeface="Barlow Medium" pitchFamily="34" charset="0"/>
                <a:ea typeface="Barlow Medium" pitchFamily="34" charset="-122"/>
                <a:cs typeface="Barlow Medium" pitchFamily="34" charset="-120"/>
              </a:rPr>
              <a:t>Wireless Communication</a:t>
            </a:r>
            <a:endParaRPr lang="en-US" sz="2150" dirty="0"/>
          </a:p>
        </p:txBody>
      </p:sp>
      <p:sp>
        <p:nvSpPr>
          <p:cNvPr id="4" name="Text 2"/>
          <p:cNvSpPr/>
          <p:nvPr/>
        </p:nvSpPr>
        <p:spPr>
          <a:xfrm>
            <a:off x="864037" y="4021098"/>
            <a:ext cx="3699510" cy="790099"/>
          </a:xfrm>
          <a:prstGeom prst="rect">
            <a:avLst/>
          </a:prstGeom>
          <a:noFill/>
          <a:ln/>
        </p:spPr>
        <p:txBody>
          <a:bodyPr wrap="square" lIns="0" tIns="0" rIns="0" bIns="0" rtlCol="0" anchor="t"/>
          <a:lstStyle/>
          <a:p>
            <a:pPr algn="r" indent="0" marL="0">
              <a:lnSpc>
                <a:spcPts val="3100"/>
              </a:lnSpc>
              <a:buNone/>
            </a:pPr>
            <a:r>
              <a:rPr lang="en-US" sz="1900" dirty="0">
                <a:solidFill>
                  <a:srgbClr val="E5E0DF"/>
                </a:solidFill>
                <a:latin typeface="Barlow" pitchFamily="34" charset="0"/>
                <a:ea typeface="Barlow" pitchFamily="34" charset="-122"/>
                <a:cs typeface="Barlow" pitchFamily="34" charset="-120"/>
              </a:rPr>
              <a:t>Receives irrigation schedules from the analytics platform.</a:t>
            </a:r>
            <a:endParaRPr lang="en-US" sz="1900" dirty="0"/>
          </a:p>
        </p:txBody>
      </p:sp>
      <p:pic>
        <p:nvPicPr>
          <p:cNvPr id="5" name="Image 0" descr="preencoded.png">    </p:cNvPr>
          <p:cNvPicPr>
            <a:picLocks noChangeAspect="1"/>
          </p:cNvPicPr>
          <p:nvPr/>
        </p:nvPicPr>
        <p:blipFill>
          <a:blip r:embed="rId1"/>
          <a:stretch>
            <a:fillRect/>
          </a:stretch>
        </p:blipFill>
        <p:spPr>
          <a:xfrm>
            <a:off x="5057299" y="1912739"/>
            <a:ext cx="4515803" cy="4515803"/>
          </a:xfrm>
          <a:prstGeom prst="rect">
            <a:avLst/>
          </a:prstGeom>
        </p:spPr>
      </p:pic>
      <p:sp>
        <p:nvSpPr>
          <p:cNvPr id="6" name="Text 3"/>
          <p:cNvSpPr/>
          <p:nvPr/>
        </p:nvSpPr>
        <p:spPr>
          <a:xfrm>
            <a:off x="5978723" y="3953589"/>
            <a:ext cx="347186" cy="433983"/>
          </a:xfrm>
          <a:prstGeom prst="rect">
            <a:avLst/>
          </a:prstGeom>
          <a:noFill/>
          <a:ln/>
        </p:spPr>
        <p:txBody>
          <a:bodyPr wrap="none" lIns="0" tIns="0" rIns="0" bIns="0" rtlCol="0" anchor="t"/>
          <a:lstStyle/>
          <a:p>
            <a:pPr algn="l" indent="0" marL="0">
              <a:lnSpc>
                <a:spcPts val="4350"/>
              </a:lnSpc>
              <a:buNone/>
            </a:pPr>
            <a:r>
              <a:rPr lang="en-US" sz="2700" dirty="0">
                <a:solidFill>
                  <a:srgbClr val="E5E0DF"/>
                </a:solidFill>
                <a:latin typeface="Barlow Medium" pitchFamily="34" charset="0"/>
                <a:ea typeface="Barlow Medium" pitchFamily="34" charset="-122"/>
                <a:cs typeface="Barlow Medium" pitchFamily="34" charset="-120"/>
              </a:rPr>
              <a:t>1</a:t>
            </a:r>
            <a:endParaRPr lang="en-US" sz="2700" dirty="0"/>
          </a:p>
        </p:txBody>
      </p:sp>
      <p:sp>
        <p:nvSpPr>
          <p:cNvPr id="7" name="Text 4"/>
          <p:cNvSpPr/>
          <p:nvPr/>
        </p:nvSpPr>
        <p:spPr>
          <a:xfrm>
            <a:off x="9573101" y="2308503"/>
            <a:ext cx="2743200" cy="342900"/>
          </a:xfrm>
          <a:prstGeom prst="rect">
            <a:avLst/>
          </a:prstGeom>
          <a:noFill/>
          <a:ln/>
        </p:spPr>
        <p:txBody>
          <a:bodyPr wrap="none" lIns="0" tIns="0" rIns="0" bIns="0" rtlCol="0" anchor="t"/>
          <a:lstStyle/>
          <a:p>
            <a:pPr algn="l" indent="0" marL="0">
              <a:lnSpc>
                <a:spcPts val="2700"/>
              </a:lnSpc>
              <a:buNone/>
            </a:pPr>
            <a:r>
              <a:rPr lang="en-US" sz="2150" dirty="0">
                <a:solidFill>
                  <a:srgbClr val="E5E0DF"/>
                </a:solidFill>
                <a:latin typeface="Barlow Medium" pitchFamily="34" charset="0"/>
                <a:ea typeface="Barlow Medium" pitchFamily="34" charset="-122"/>
                <a:cs typeface="Barlow Medium" pitchFamily="34" charset="-120"/>
              </a:rPr>
              <a:t>Smart Valves</a:t>
            </a:r>
            <a:endParaRPr lang="en-US" sz="2150" dirty="0"/>
          </a:p>
        </p:txBody>
      </p:sp>
      <p:sp>
        <p:nvSpPr>
          <p:cNvPr id="8" name="Text 5"/>
          <p:cNvSpPr/>
          <p:nvPr/>
        </p:nvSpPr>
        <p:spPr>
          <a:xfrm>
            <a:off x="9573101" y="2799517"/>
            <a:ext cx="4193262" cy="790099"/>
          </a:xfrm>
          <a:prstGeom prst="rect">
            <a:avLst/>
          </a:prstGeom>
          <a:noFill/>
          <a:ln/>
        </p:spPr>
        <p:txBody>
          <a:bodyPr wrap="square" lIns="0" tIns="0" rIns="0" bIns="0" rtlCol="0" anchor="t"/>
          <a:lstStyle/>
          <a:p>
            <a:pPr algn="l" indent="0" marL="0">
              <a:lnSpc>
                <a:spcPts val="3100"/>
              </a:lnSpc>
              <a:buNone/>
            </a:pPr>
            <a:r>
              <a:rPr lang="en-US" sz="1900" dirty="0">
                <a:solidFill>
                  <a:srgbClr val="E5E0DF"/>
                </a:solidFill>
                <a:latin typeface="Barlow" pitchFamily="34" charset="0"/>
                <a:ea typeface="Barlow" pitchFamily="34" charset="-122"/>
                <a:cs typeface="Barlow" pitchFamily="34" charset="-120"/>
              </a:rPr>
              <a:t>Precisely controls water flow to individual zones.</a:t>
            </a:r>
            <a:endParaRPr lang="en-US" sz="1900" dirty="0"/>
          </a:p>
        </p:txBody>
      </p:sp>
      <p:pic>
        <p:nvPicPr>
          <p:cNvPr id="9" name="Image 1" descr="preencoded.png">    </p:cNvPr>
          <p:cNvPicPr>
            <a:picLocks noChangeAspect="1"/>
          </p:cNvPicPr>
          <p:nvPr/>
        </p:nvPicPr>
        <p:blipFill>
          <a:blip r:embed="rId2"/>
          <a:stretch>
            <a:fillRect/>
          </a:stretch>
        </p:blipFill>
        <p:spPr>
          <a:xfrm>
            <a:off x="5057299" y="1912739"/>
            <a:ext cx="4515803" cy="4515803"/>
          </a:xfrm>
          <a:prstGeom prst="rect">
            <a:avLst/>
          </a:prstGeom>
        </p:spPr>
      </p:pic>
      <p:sp>
        <p:nvSpPr>
          <p:cNvPr id="10" name="Text 6"/>
          <p:cNvSpPr/>
          <p:nvPr/>
        </p:nvSpPr>
        <p:spPr>
          <a:xfrm>
            <a:off x="7722989" y="2946440"/>
            <a:ext cx="347186" cy="433983"/>
          </a:xfrm>
          <a:prstGeom prst="rect">
            <a:avLst/>
          </a:prstGeom>
          <a:noFill/>
          <a:ln/>
        </p:spPr>
        <p:txBody>
          <a:bodyPr wrap="none" lIns="0" tIns="0" rIns="0" bIns="0" rtlCol="0" anchor="t"/>
          <a:lstStyle/>
          <a:p>
            <a:pPr algn="l" indent="0" marL="0">
              <a:lnSpc>
                <a:spcPts val="4350"/>
              </a:lnSpc>
              <a:buNone/>
            </a:pPr>
            <a:r>
              <a:rPr lang="en-US" sz="2700" dirty="0">
                <a:solidFill>
                  <a:srgbClr val="E5E0DF"/>
                </a:solidFill>
                <a:latin typeface="Barlow Medium" pitchFamily="34" charset="0"/>
                <a:ea typeface="Barlow Medium" pitchFamily="34" charset="-122"/>
                <a:cs typeface="Barlow Medium" pitchFamily="34" charset="-120"/>
              </a:rPr>
              <a:t>2</a:t>
            </a:r>
            <a:endParaRPr lang="en-US" sz="2700" dirty="0"/>
          </a:p>
        </p:txBody>
      </p:sp>
      <p:sp>
        <p:nvSpPr>
          <p:cNvPr id="11" name="Text 7"/>
          <p:cNvSpPr/>
          <p:nvPr/>
        </p:nvSpPr>
        <p:spPr>
          <a:xfrm>
            <a:off x="9573101" y="4751546"/>
            <a:ext cx="2743200" cy="342900"/>
          </a:xfrm>
          <a:prstGeom prst="rect">
            <a:avLst/>
          </a:prstGeom>
          <a:noFill/>
          <a:ln/>
        </p:spPr>
        <p:txBody>
          <a:bodyPr wrap="none" lIns="0" tIns="0" rIns="0" bIns="0" rtlCol="0" anchor="t"/>
          <a:lstStyle/>
          <a:p>
            <a:pPr algn="l" indent="0" marL="0">
              <a:lnSpc>
                <a:spcPts val="2700"/>
              </a:lnSpc>
              <a:buNone/>
            </a:pPr>
            <a:r>
              <a:rPr lang="en-US" sz="2150" dirty="0">
                <a:solidFill>
                  <a:srgbClr val="E5E0DF"/>
                </a:solidFill>
                <a:latin typeface="Barlow Medium" pitchFamily="34" charset="0"/>
                <a:ea typeface="Barlow Medium" pitchFamily="34" charset="-122"/>
                <a:cs typeface="Barlow Medium" pitchFamily="34" charset="-120"/>
              </a:rPr>
              <a:t>Feedback Loops</a:t>
            </a:r>
            <a:endParaRPr lang="en-US" sz="2150" dirty="0"/>
          </a:p>
        </p:txBody>
      </p:sp>
      <p:sp>
        <p:nvSpPr>
          <p:cNvPr id="12" name="Text 8"/>
          <p:cNvSpPr/>
          <p:nvPr/>
        </p:nvSpPr>
        <p:spPr>
          <a:xfrm>
            <a:off x="9573101" y="5242560"/>
            <a:ext cx="4193262" cy="790099"/>
          </a:xfrm>
          <a:prstGeom prst="rect">
            <a:avLst/>
          </a:prstGeom>
          <a:noFill/>
          <a:ln/>
        </p:spPr>
        <p:txBody>
          <a:bodyPr wrap="square" lIns="0" tIns="0" rIns="0" bIns="0" rtlCol="0" anchor="t"/>
          <a:lstStyle/>
          <a:p>
            <a:pPr algn="l" indent="0" marL="0">
              <a:lnSpc>
                <a:spcPts val="3100"/>
              </a:lnSpc>
              <a:buNone/>
            </a:pPr>
            <a:r>
              <a:rPr lang="en-US" sz="1900" dirty="0">
                <a:solidFill>
                  <a:srgbClr val="E5E0DF"/>
                </a:solidFill>
                <a:latin typeface="Barlow" pitchFamily="34" charset="0"/>
                <a:ea typeface="Barlow" pitchFamily="34" charset="-122"/>
                <a:cs typeface="Barlow" pitchFamily="34" charset="-120"/>
              </a:rPr>
              <a:t>Monitors soil moisture and adjusts irrigation in real-time.</a:t>
            </a:r>
            <a:endParaRPr lang="en-US" sz="1900" dirty="0"/>
          </a:p>
        </p:txBody>
      </p:sp>
      <p:pic>
        <p:nvPicPr>
          <p:cNvPr id="13" name="Image 2" descr="preencoded.png">    </p:cNvPr>
          <p:cNvPicPr>
            <a:picLocks noChangeAspect="1"/>
          </p:cNvPicPr>
          <p:nvPr/>
        </p:nvPicPr>
        <p:blipFill>
          <a:blip r:embed="rId3"/>
          <a:stretch>
            <a:fillRect/>
          </a:stretch>
        </p:blipFill>
        <p:spPr>
          <a:xfrm>
            <a:off x="5057299" y="1912739"/>
            <a:ext cx="4515803" cy="4515803"/>
          </a:xfrm>
          <a:prstGeom prst="rect">
            <a:avLst/>
          </a:prstGeom>
        </p:spPr>
      </p:pic>
      <p:sp>
        <p:nvSpPr>
          <p:cNvPr id="14" name="Text 9"/>
          <p:cNvSpPr/>
          <p:nvPr/>
        </p:nvSpPr>
        <p:spPr>
          <a:xfrm>
            <a:off x="7722989" y="4960620"/>
            <a:ext cx="347186" cy="433983"/>
          </a:xfrm>
          <a:prstGeom prst="rect">
            <a:avLst/>
          </a:prstGeom>
          <a:noFill/>
          <a:ln/>
        </p:spPr>
        <p:txBody>
          <a:bodyPr wrap="none" lIns="0" tIns="0" rIns="0" bIns="0" rtlCol="0" anchor="t"/>
          <a:lstStyle/>
          <a:p>
            <a:pPr algn="l" indent="0" marL="0">
              <a:lnSpc>
                <a:spcPts val="4350"/>
              </a:lnSpc>
              <a:buNone/>
            </a:pPr>
            <a:r>
              <a:rPr lang="en-US" sz="2700" dirty="0">
                <a:solidFill>
                  <a:srgbClr val="E5E0DF"/>
                </a:solidFill>
                <a:latin typeface="Barlow Medium" pitchFamily="34" charset="0"/>
                <a:ea typeface="Barlow Medium" pitchFamily="34" charset="-122"/>
                <a:cs typeface="Barlow Medium" pitchFamily="34" charset="-120"/>
              </a:rPr>
              <a:t>3</a:t>
            </a:r>
            <a:endParaRPr lang="en-US" sz="2700" dirty="0"/>
          </a:p>
        </p:txBody>
      </p:sp>
      <p:sp>
        <p:nvSpPr>
          <p:cNvPr id="15" name="Text 10"/>
          <p:cNvSpPr/>
          <p:nvPr/>
        </p:nvSpPr>
        <p:spPr>
          <a:xfrm>
            <a:off x="864037" y="6706195"/>
            <a:ext cx="12902327" cy="790099"/>
          </a:xfrm>
          <a:prstGeom prst="rect">
            <a:avLst/>
          </a:prstGeom>
          <a:noFill/>
          <a:ln/>
        </p:spPr>
        <p:txBody>
          <a:bodyPr wrap="square" lIns="0" tIns="0" rIns="0" bIns="0" rtlCol="0" anchor="t"/>
          <a:lstStyle/>
          <a:p>
            <a:pPr algn="l" indent="0" marL="0">
              <a:lnSpc>
                <a:spcPts val="3100"/>
              </a:lnSpc>
              <a:buNone/>
            </a:pPr>
            <a:r>
              <a:rPr lang="en-US" sz="1900" dirty="0">
                <a:solidFill>
                  <a:srgbClr val="E5E0DF"/>
                </a:solidFill>
                <a:latin typeface="Barlow" pitchFamily="34" charset="0"/>
                <a:ea typeface="Barlow" pitchFamily="34" charset="-122"/>
                <a:cs typeface="Barlow" pitchFamily="34" charset="-120"/>
              </a:rPr>
              <a:t>Smart valves, controlled by wireless communication (e.g., LoRaWAN), precisely deliver water to individual zones. They monitor soil moisture and adjust irrigation in real-time.</a:t>
            </a:r>
            <a:endParaRPr lang="en-US" sz="1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63905" y="600670"/>
            <a:ext cx="6651546" cy="606266"/>
          </a:xfrm>
          <a:prstGeom prst="rect">
            <a:avLst/>
          </a:prstGeom>
          <a:noFill/>
          <a:ln/>
        </p:spPr>
        <p:txBody>
          <a:bodyPr wrap="none" lIns="0" tIns="0" rIns="0" bIns="0" rtlCol="0" anchor="t"/>
          <a:lstStyle/>
          <a:p>
            <a:pPr algn="l" indent="0" marL="0">
              <a:lnSpc>
                <a:spcPts val="4750"/>
              </a:lnSpc>
              <a:buNone/>
            </a:pPr>
            <a:r>
              <a:rPr lang="en-US" sz="3800" dirty="0">
                <a:solidFill>
                  <a:srgbClr val="FFFFFF"/>
                </a:solidFill>
                <a:latin typeface="Barlow Medium" pitchFamily="34" charset="0"/>
                <a:ea typeface="Barlow Medium" pitchFamily="34" charset="-122"/>
                <a:cs typeface="Barlow Medium" pitchFamily="34" charset="-120"/>
              </a:rPr>
              <a:t>Key Benefits of Smart Irrigation</a:t>
            </a:r>
            <a:endParaRPr lang="en-US" sz="3800" dirty="0"/>
          </a:p>
        </p:txBody>
      </p:sp>
      <p:pic>
        <p:nvPicPr>
          <p:cNvPr id="3" name="Image 0" descr="preencoded.png">    </p:cNvPr>
          <p:cNvPicPr>
            <a:picLocks noChangeAspect="1"/>
          </p:cNvPicPr>
          <p:nvPr/>
        </p:nvPicPr>
        <p:blipFill>
          <a:blip r:embed="rId1"/>
          <a:stretch>
            <a:fillRect/>
          </a:stretch>
        </p:blipFill>
        <p:spPr>
          <a:xfrm>
            <a:off x="3228737" y="1643420"/>
            <a:ext cx="1621393" cy="1219557"/>
          </a:xfrm>
          <a:prstGeom prst="rect">
            <a:avLst/>
          </a:prstGeom>
        </p:spPr>
      </p:pic>
      <p:sp>
        <p:nvSpPr>
          <p:cNvPr id="4" name="Text 1"/>
          <p:cNvSpPr/>
          <p:nvPr/>
        </p:nvSpPr>
        <p:spPr>
          <a:xfrm>
            <a:off x="3885962" y="2211467"/>
            <a:ext cx="306824" cy="383619"/>
          </a:xfrm>
          <a:prstGeom prst="rect">
            <a:avLst/>
          </a:prstGeom>
          <a:noFill/>
          <a:ln/>
        </p:spPr>
        <p:txBody>
          <a:bodyPr wrap="none" lIns="0" tIns="0" rIns="0" bIns="0" rtlCol="0" anchor="t"/>
          <a:lstStyle/>
          <a:p>
            <a:pPr algn="ctr" indent="0" marL="0">
              <a:lnSpc>
                <a:spcPts val="3850"/>
              </a:lnSpc>
              <a:buNone/>
            </a:pPr>
            <a:r>
              <a:rPr lang="en-US" sz="2400" dirty="0">
                <a:solidFill>
                  <a:srgbClr val="E5E0DF"/>
                </a:solidFill>
                <a:latin typeface="Barlow Medium" pitchFamily="34" charset="0"/>
                <a:ea typeface="Barlow Medium" pitchFamily="34" charset="-122"/>
                <a:cs typeface="Barlow Medium" pitchFamily="34" charset="-120"/>
              </a:rPr>
              <a:t>1</a:t>
            </a:r>
            <a:endParaRPr lang="en-US" sz="2400" dirty="0"/>
          </a:p>
        </p:txBody>
      </p:sp>
      <p:sp>
        <p:nvSpPr>
          <p:cNvPr id="5" name="Text 2"/>
          <p:cNvSpPr/>
          <p:nvPr/>
        </p:nvSpPr>
        <p:spPr>
          <a:xfrm>
            <a:off x="5068372" y="1861661"/>
            <a:ext cx="1544122" cy="303133"/>
          </a:xfrm>
          <a:prstGeom prst="rect">
            <a:avLst/>
          </a:prstGeom>
          <a:noFill/>
          <a:ln/>
        </p:spPr>
        <p:txBody>
          <a:bodyPr wrap="none" lIns="0" tIns="0" rIns="0" bIns="0" rtlCol="0" anchor="t"/>
          <a:lstStyle/>
          <a:p>
            <a:pPr algn="l" indent="0" marL="0">
              <a:lnSpc>
                <a:spcPts val="2350"/>
              </a:lnSpc>
              <a:buNone/>
            </a:pPr>
            <a:r>
              <a:rPr lang="en-US" sz="1900" dirty="0">
                <a:solidFill>
                  <a:srgbClr val="E5E0DF"/>
                </a:solidFill>
                <a:latin typeface="Barlow Medium" pitchFamily="34" charset="0"/>
                <a:ea typeface="Barlow Medium" pitchFamily="34" charset="-122"/>
                <a:cs typeface="Barlow Medium" pitchFamily="34" charset="-120"/>
              </a:rPr>
              <a:t>Sustainability</a:t>
            </a:r>
            <a:endParaRPr lang="en-US" sz="1900" dirty="0"/>
          </a:p>
        </p:txBody>
      </p:sp>
      <p:sp>
        <p:nvSpPr>
          <p:cNvPr id="6" name="Text 3"/>
          <p:cNvSpPr/>
          <p:nvPr/>
        </p:nvSpPr>
        <p:spPr>
          <a:xfrm>
            <a:off x="5068372" y="2295644"/>
            <a:ext cx="1544122" cy="349091"/>
          </a:xfrm>
          <a:prstGeom prst="rect">
            <a:avLst/>
          </a:prstGeom>
          <a:noFill/>
          <a:ln/>
        </p:spPr>
        <p:txBody>
          <a:bodyPr wrap="none" lIns="0" tIns="0" rIns="0" bIns="0" rtlCol="0" anchor="t"/>
          <a:lstStyle/>
          <a:p>
            <a:pPr algn="l" indent="0" marL="0">
              <a:lnSpc>
                <a:spcPts val="2700"/>
              </a:lnSpc>
              <a:buNone/>
            </a:pPr>
            <a:r>
              <a:rPr lang="en-US" sz="1700" dirty="0">
                <a:solidFill>
                  <a:srgbClr val="E5E0DF"/>
                </a:solidFill>
                <a:latin typeface="Barlow" pitchFamily="34" charset="0"/>
                <a:ea typeface="Barlow" pitchFamily="34" charset="-122"/>
                <a:cs typeface="Barlow" pitchFamily="34" charset="-120"/>
              </a:rPr>
              <a:t>Minimizes waste</a:t>
            </a:r>
            <a:endParaRPr lang="en-US" sz="1700" dirty="0"/>
          </a:p>
        </p:txBody>
      </p:sp>
      <p:sp>
        <p:nvSpPr>
          <p:cNvPr id="7" name="Shape 4"/>
          <p:cNvSpPr/>
          <p:nvPr/>
        </p:nvSpPr>
        <p:spPr>
          <a:xfrm>
            <a:off x="4904661" y="2875002"/>
            <a:ext cx="8907304" cy="15240"/>
          </a:xfrm>
          <a:prstGeom prst="roundRect">
            <a:avLst>
              <a:gd name="adj" fmla="val 601512"/>
            </a:avLst>
          </a:prstGeom>
          <a:solidFill>
            <a:srgbClr val="922022"/>
          </a:solidFill>
          <a:ln/>
        </p:spPr>
      </p:sp>
      <p:pic>
        <p:nvPicPr>
          <p:cNvPr id="8" name="Image 1" descr="preencoded.png">    </p:cNvPr>
          <p:cNvPicPr>
            <a:picLocks noChangeAspect="1"/>
          </p:cNvPicPr>
          <p:nvPr/>
        </p:nvPicPr>
        <p:blipFill>
          <a:blip r:embed="rId2"/>
          <a:stretch>
            <a:fillRect/>
          </a:stretch>
        </p:blipFill>
        <p:spPr>
          <a:xfrm>
            <a:off x="2418040" y="2917507"/>
            <a:ext cx="3242786" cy="1219557"/>
          </a:xfrm>
          <a:prstGeom prst="rect">
            <a:avLst/>
          </a:prstGeom>
        </p:spPr>
      </p:pic>
      <p:sp>
        <p:nvSpPr>
          <p:cNvPr id="9" name="Text 5"/>
          <p:cNvSpPr/>
          <p:nvPr/>
        </p:nvSpPr>
        <p:spPr>
          <a:xfrm>
            <a:off x="3885962" y="3335417"/>
            <a:ext cx="306824" cy="383619"/>
          </a:xfrm>
          <a:prstGeom prst="rect">
            <a:avLst/>
          </a:prstGeom>
          <a:noFill/>
          <a:ln/>
        </p:spPr>
        <p:txBody>
          <a:bodyPr wrap="none" lIns="0" tIns="0" rIns="0" bIns="0" rtlCol="0" anchor="t"/>
          <a:lstStyle/>
          <a:p>
            <a:pPr algn="ctr" indent="0" marL="0">
              <a:lnSpc>
                <a:spcPts val="3850"/>
              </a:lnSpc>
              <a:buNone/>
            </a:pPr>
            <a:r>
              <a:rPr lang="en-US" sz="2400" dirty="0">
                <a:solidFill>
                  <a:srgbClr val="E5E0DF"/>
                </a:solidFill>
                <a:latin typeface="Barlow Medium" pitchFamily="34" charset="0"/>
                <a:ea typeface="Barlow Medium" pitchFamily="34" charset="-122"/>
                <a:cs typeface="Barlow Medium" pitchFamily="34" charset="-120"/>
              </a:rPr>
              <a:t>2</a:t>
            </a:r>
            <a:endParaRPr lang="en-US" sz="2400" dirty="0"/>
          </a:p>
        </p:txBody>
      </p:sp>
      <p:sp>
        <p:nvSpPr>
          <p:cNvPr id="10" name="Text 6"/>
          <p:cNvSpPr/>
          <p:nvPr/>
        </p:nvSpPr>
        <p:spPr>
          <a:xfrm>
            <a:off x="5879068" y="3135749"/>
            <a:ext cx="1362432" cy="303133"/>
          </a:xfrm>
          <a:prstGeom prst="rect">
            <a:avLst/>
          </a:prstGeom>
          <a:noFill/>
          <a:ln/>
        </p:spPr>
        <p:txBody>
          <a:bodyPr wrap="none" lIns="0" tIns="0" rIns="0" bIns="0" rtlCol="0" anchor="t"/>
          <a:lstStyle/>
          <a:p>
            <a:pPr algn="l" indent="0" marL="0">
              <a:lnSpc>
                <a:spcPts val="2350"/>
              </a:lnSpc>
              <a:buNone/>
            </a:pPr>
            <a:r>
              <a:rPr lang="en-US" sz="1900" dirty="0">
                <a:solidFill>
                  <a:srgbClr val="E5E0DF"/>
                </a:solidFill>
                <a:latin typeface="Barlow Medium" pitchFamily="34" charset="0"/>
                <a:ea typeface="Barlow Medium" pitchFamily="34" charset="-122"/>
                <a:cs typeface="Barlow Medium" pitchFamily="34" charset="-120"/>
              </a:rPr>
              <a:t>Cost Savings</a:t>
            </a:r>
            <a:endParaRPr lang="en-US" sz="1900" dirty="0"/>
          </a:p>
        </p:txBody>
      </p:sp>
      <p:sp>
        <p:nvSpPr>
          <p:cNvPr id="11" name="Text 7"/>
          <p:cNvSpPr/>
          <p:nvPr/>
        </p:nvSpPr>
        <p:spPr>
          <a:xfrm>
            <a:off x="5879068" y="3569732"/>
            <a:ext cx="1362432" cy="349091"/>
          </a:xfrm>
          <a:prstGeom prst="rect">
            <a:avLst/>
          </a:prstGeom>
          <a:noFill/>
          <a:ln/>
        </p:spPr>
        <p:txBody>
          <a:bodyPr wrap="none" lIns="0" tIns="0" rIns="0" bIns="0" rtlCol="0" anchor="t"/>
          <a:lstStyle/>
          <a:p>
            <a:pPr algn="l" indent="0" marL="0">
              <a:lnSpc>
                <a:spcPts val="2700"/>
              </a:lnSpc>
              <a:buNone/>
            </a:pPr>
            <a:r>
              <a:rPr lang="en-US" sz="1700" dirty="0">
                <a:solidFill>
                  <a:srgbClr val="E5E0DF"/>
                </a:solidFill>
                <a:latin typeface="Barlow" pitchFamily="34" charset="0"/>
                <a:ea typeface="Barlow" pitchFamily="34" charset="-122"/>
                <a:cs typeface="Barlow" pitchFamily="34" charset="-120"/>
              </a:rPr>
              <a:t>Lowers costs</a:t>
            </a:r>
            <a:endParaRPr lang="en-US" sz="1700" dirty="0"/>
          </a:p>
        </p:txBody>
      </p:sp>
      <p:sp>
        <p:nvSpPr>
          <p:cNvPr id="12" name="Shape 8"/>
          <p:cNvSpPr/>
          <p:nvPr/>
        </p:nvSpPr>
        <p:spPr>
          <a:xfrm>
            <a:off x="5715357" y="4149090"/>
            <a:ext cx="8096607" cy="15240"/>
          </a:xfrm>
          <a:prstGeom prst="roundRect">
            <a:avLst>
              <a:gd name="adj" fmla="val 601512"/>
            </a:avLst>
          </a:prstGeom>
          <a:solidFill>
            <a:srgbClr val="922022"/>
          </a:solidFill>
          <a:ln/>
        </p:spPr>
      </p:sp>
      <p:pic>
        <p:nvPicPr>
          <p:cNvPr id="13" name="Image 2" descr="preencoded.png">    </p:cNvPr>
          <p:cNvPicPr>
            <a:picLocks noChangeAspect="1"/>
          </p:cNvPicPr>
          <p:nvPr/>
        </p:nvPicPr>
        <p:blipFill>
          <a:blip r:embed="rId3"/>
          <a:stretch>
            <a:fillRect/>
          </a:stretch>
        </p:blipFill>
        <p:spPr>
          <a:xfrm>
            <a:off x="1607344" y="4191595"/>
            <a:ext cx="4864298" cy="1219557"/>
          </a:xfrm>
          <a:prstGeom prst="rect">
            <a:avLst/>
          </a:prstGeom>
        </p:spPr>
      </p:pic>
      <p:sp>
        <p:nvSpPr>
          <p:cNvPr id="14" name="Text 9"/>
          <p:cNvSpPr/>
          <p:nvPr/>
        </p:nvSpPr>
        <p:spPr>
          <a:xfrm>
            <a:off x="3886081" y="4609505"/>
            <a:ext cx="306824" cy="383619"/>
          </a:xfrm>
          <a:prstGeom prst="rect">
            <a:avLst/>
          </a:prstGeom>
          <a:noFill/>
          <a:ln/>
        </p:spPr>
        <p:txBody>
          <a:bodyPr wrap="none" lIns="0" tIns="0" rIns="0" bIns="0" rtlCol="0" anchor="t"/>
          <a:lstStyle/>
          <a:p>
            <a:pPr algn="ctr" indent="0" marL="0">
              <a:lnSpc>
                <a:spcPts val="3850"/>
              </a:lnSpc>
              <a:buNone/>
            </a:pPr>
            <a:r>
              <a:rPr lang="en-US" sz="2400" dirty="0">
                <a:solidFill>
                  <a:srgbClr val="E5E0DF"/>
                </a:solidFill>
                <a:latin typeface="Barlow Medium" pitchFamily="34" charset="0"/>
                <a:ea typeface="Barlow Medium" pitchFamily="34" charset="-122"/>
                <a:cs typeface="Barlow Medium" pitchFamily="34" charset="-120"/>
              </a:rPr>
              <a:t>3</a:t>
            </a:r>
            <a:endParaRPr lang="en-US" sz="2400" dirty="0"/>
          </a:p>
        </p:txBody>
      </p:sp>
      <p:sp>
        <p:nvSpPr>
          <p:cNvPr id="15" name="Text 10"/>
          <p:cNvSpPr/>
          <p:nvPr/>
        </p:nvSpPr>
        <p:spPr>
          <a:xfrm>
            <a:off x="6689884" y="4409837"/>
            <a:ext cx="1505307" cy="303133"/>
          </a:xfrm>
          <a:prstGeom prst="rect">
            <a:avLst/>
          </a:prstGeom>
          <a:noFill/>
          <a:ln/>
        </p:spPr>
        <p:txBody>
          <a:bodyPr wrap="none" lIns="0" tIns="0" rIns="0" bIns="0" rtlCol="0" anchor="t"/>
          <a:lstStyle/>
          <a:p>
            <a:pPr algn="l" indent="0" marL="0">
              <a:lnSpc>
                <a:spcPts val="2350"/>
              </a:lnSpc>
              <a:buNone/>
            </a:pPr>
            <a:r>
              <a:rPr lang="en-US" sz="1900" dirty="0">
                <a:solidFill>
                  <a:srgbClr val="E5E0DF"/>
                </a:solidFill>
                <a:latin typeface="Barlow Medium" pitchFamily="34" charset="0"/>
                <a:ea typeface="Barlow Medium" pitchFamily="34" charset="-122"/>
                <a:cs typeface="Barlow Medium" pitchFamily="34" charset="-120"/>
              </a:rPr>
              <a:t>Crop Yields</a:t>
            </a:r>
            <a:endParaRPr lang="en-US" sz="1900" dirty="0"/>
          </a:p>
        </p:txBody>
      </p:sp>
      <p:sp>
        <p:nvSpPr>
          <p:cNvPr id="16" name="Text 11"/>
          <p:cNvSpPr/>
          <p:nvPr/>
        </p:nvSpPr>
        <p:spPr>
          <a:xfrm>
            <a:off x="6689884" y="4843820"/>
            <a:ext cx="1505307" cy="349091"/>
          </a:xfrm>
          <a:prstGeom prst="rect">
            <a:avLst/>
          </a:prstGeom>
          <a:noFill/>
          <a:ln/>
        </p:spPr>
        <p:txBody>
          <a:bodyPr wrap="none" lIns="0" tIns="0" rIns="0" bIns="0" rtlCol="0" anchor="t"/>
          <a:lstStyle/>
          <a:p>
            <a:pPr algn="l" indent="0" marL="0">
              <a:lnSpc>
                <a:spcPts val="2700"/>
              </a:lnSpc>
              <a:buNone/>
            </a:pPr>
            <a:r>
              <a:rPr lang="en-US" sz="1700" dirty="0">
                <a:solidFill>
                  <a:srgbClr val="E5E0DF"/>
                </a:solidFill>
                <a:latin typeface="Barlow" pitchFamily="34" charset="0"/>
                <a:ea typeface="Barlow" pitchFamily="34" charset="-122"/>
                <a:cs typeface="Barlow" pitchFamily="34" charset="-120"/>
              </a:rPr>
              <a:t>Increases yields</a:t>
            </a:r>
            <a:endParaRPr lang="en-US" sz="1700" dirty="0"/>
          </a:p>
        </p:txBody>
      </p:sp>
      <p:sp>
        <p:nvSpPr>
          <p:cNvPr id="17" name="Shape 12"/>
          <p:cNvSpPr/>
          <p:nvPr/>
        </p:nvSpPr>
        <p:spPr>
          <a:xfrm>
            <a:off x="6526173" y="5423178"/>
            <a:ext cx="7285792" cy="15240"/>
          </a:xfrm>
          <a:prstGeom prst="roundRect">
            <a:avLst>
              <a:gd name="adj" fmla="val 601512"/>
            </a:avLst>
          </a:prstGeom>
          <a:solidFill>
            <a:srgbClr val="922022"/>
          </a:solidFill>
          <a:ln/>
        </p:spPr>
      </p:sp>
      <p:pic>
        <p:nvPicPr>
          <p:cNvPr id="18" name="Image 3" descr="preencoded.png">    </p:cNvPr>
          <p:cNvPicPr>
            <a:picLocks noChangeAspect="1"/>
          </p:cNvPicPr>
          <p:nvPr/>
        </p:nvPicPr>
        <p:blipFill>
          <a:blip r:embed="rId4"/>
          <a:stretch>
            <a:fillRect/>
          </a:stretch>
        </p:blipFill>
        <p:spPr>
          <a:xfrm>
            <a:off x="796647" y="5465683"/>
            <a:ext cx="6485692" cy="1219557"/>
          </a:xfrm>
          <a:prstGeom prst="rect">
            <a:avLst/>
          </a:prstGeom>
        </p:spPr>
      </p:pic>
      <p:sp>
        <p:nvSpPr>
          <p:cNvPr id="19" name="Text 13"/>
          <p:cNvSpPr/>
          <p:nvPr/>
        </p:nvSpPr>
        <p:spPr>
          <a:xfrm>
            <a:off x="3885962" y="5883593"/>
            <a:ext cx="306824" cy="383619"/>
          </a:xfrm>
          <a:prstGeom prst="rect">
            <a:avLst/>
          </a:prstGeom>
          <a:noFill/>
          <a:ln/>
        </p:spPr>
        <p:txBody>
          <a:bodyPr wrap="none" lIns="0" tIns="0" rIns="0" bIns="0" rtlCol="0" anchor="t"/>
          <a:lstStyle/>
          <a:p>
            <a:pPr algn="ctr" indent="0" marL="0">
              <a:lnSpc>
                <a:spcPts val="3850"/>
              </a:lnSpc>
              <a:buNone/>
            </a:pPr>
            <a:r>
              <a:rPr lang="en-US" sz="2400" dirty="0">
                <a:solidFill>
                  <a:srgbClr val="E5E0DF"/>
                </a:solidFill>
                <a:latin typeface="Barlow Medium" pitchFamily="34" charset="0"/>
                <a:ea typeface="Barlow Medium" pitchFamily="34" charset="-122"/>
                <a:cs typeface="Barlow Medium" pitchFamily="34" charset="-120"/>
              </a:rPr>
              <a:t>4</a:t>
            </a:r>
            <a:endParaRPr lang="en-US" sz="2400" dirty="0"/>
          </a:p>
        </p:txBody>
      </p:sp>
      <p:sp>
        <p:nvSpPr>
          <p:cNvPr id="20" name="Text 14"/>
          <p:cNvSpPr/>
          <p:nvPr/>
        </p:nvSpPr>
        <p:spPr>
          <a:xfrm>
            <a:off x="7500580" y="5683925"/>
            <a:ext cx="2090618" cy="303133"/>
          </a:xfrm>
          <a:prstGeom prst="rect">
            <a:avLst/>
          </a:prstGeom>
          <a:noFill/>
          <a:ln/>
        </p:spPr>
        <p:txBody>
          <a:bodyPr wrap="none" lIns="0" tIns="0" rIns="0" bIns="0" rtlCol="0" anchor="t"/>
          <a:lstStyle/>
          <a:p>
            <a:pPr algn="l" indent="0" marL="0">
              <a:lnSpc>
                <a:spcPts val="2350"/>
              </a:lnSpc>
              <a:buNone/>
            </a:pPr>
            <a:r>
              <a:rPr lang="en-US" sz="1900" dirty="0">
                <a:solidFill>
                  <a:srgbClr val="E5E0DF"/>
                </a:solidFill>
                <a:latin typeface="Barlow Medium" pitchFamily="34" charset="0"/>
                <a:ea typeface="Barlow Medium" pitchFamily="34" charset="-122"/>
                <a:cs typeface="Barlow Medium" pitchFamily="34" charset="-120"/>
              </a:rPr>
              <a:t>Water Conservation</a:t>
            </a:r>
            <a:endParaRPr lang="en-US" sz="1900" dirty="0"/>
          </a:p>
        </p:txBody>
      </p:sp>
      <p:sp>
        <p:nvSpPr>
          <p:cNvPr id="21" name="Text 15"/>
          <p:cNvSpPr/>
          <p:nvPr/>
        </p:nvSpPr>
        <p:spPr>
          <a:xfrm>
            <a:off x="7500580" y="6117908"/>
            <a:ext cx="2090618" cy="349091"/>
          </a:xfrm>
          <a:prstGeom prst="rect">
            <a:avLst/>
          </a:prstGeom>
          <a:noFill/>
          <a:ln/>
        </p:spPr>
        <p:txBody>
          <a:bodyPr wrap="none" lIns="0" tIns="0" rIns="0" bIns="0" rtlCol="0" anchor="t"/>
          <a:lstStyle/>
          <a:p>
            <a:pPr algn="l" indent="0" marL="0">
              <a:lnSpc>
                <a:spcPts val="2700"/>
              </a:lnSpc>
              <a:buNone/>
            </a:pPr>
            <a:r>
              <a:rPr lang="en-US" sz="1700" dirty="0">
                <a:solidFill>
                  <a:srgbClr val="E5E0DF"/>
                </a:solidFill>
                <a:latin typeface="Barlow" pitchFamily="34" charset="0"/>
                <a:ea typeface="Barlow" pitchFamily="34" charset="-122"/>
                <a:cs typeface="Barlow" pitchFamily="34" charset="-120"/>
              </a:rPr>
              <a:t>Reduces water use</a:t>
            </a:r>
            <a:endParaRPr lang="en-US" sz="1700" dirty="0"/>
          </a:p>
        </p:txBody>
      </p:sp>
      <p:sp>
        <p:nvSpPr>
          <p:cNvPr id="22" name="Text 16"/>
          <p:cNvSpPr/>
          <p:nvPr/>
        </p:nvSpPr>
        <p:spPr>
          <a:xfrm>
            <a:off x="763905" y="6930747"/>
            <a:ext cx="13102590" cy="698183"/>
          </a:xfrm>
          <a:prstGeom prst="rect">
            <a:avLst/>
          </a:prstGeom>
          <a:noFill/>
          <a:ln/>
        </p:spPr>
        <p:txBody>
          <a:bodyPr wrap="square" lIns="0" tIns="0" rIns="0" bIns="0" rtlCol="0" anchor="t"/>
          <a:lstStyle/>
          <a:p>
            <a:pPr algn="l" indent="0" marL="0">
              <a:lnSpc>
                <a:spcPts val="2700"/>
              </a:lnSpc>
              <a:buNone/>
            </a:pPr>
            <a:r>
              <a:rPr lang="en-US" sz="1700" dirty="0">
                <a:solidFill>
                  <a:srgbClr val="E5E0DF"/>
                </a:solidFill>
                <a:latin typeface="Barlow" pitchFamily="34" charset="0"/>
                <a:ea typeface="Barlow" pitchFamily="34" charset="-122"/>
                <a:cs typeface="Barlow" pitchFamily="34" charset="-120"/>
              </a:rPr>
              <a:t>Smart irrigation reduces water usage by up to 40% and increases yields by 10-20%. Lowers operational costs and minimizes water wastage, and the system can pay for itself in 2-3 growing seasons.</a:t>
            </a:r>
            <a:endParaRPr lang="en-US"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864037" y="1437442"/>
            <a:ext cx="7415927" cy="1371600"/>
          </a:xfrm>
          <a:prstGeom prst="rect">
            <a:avLst/>
          </a:prstGeom>
          <a:noFill/>
          <a:ln/>
        </p:spPr>
        <p:txBody>
          <a:bodyPr wrap="square" lIns="0" tIns="0" rIns="0" bIns="0" rtlCol="0" anchor="t"/>
          <a:lstStyle/>
          <a:p>
            <a:pPr algn="l" indent="0" marL="0">
              <a:lnSpc>
                <a:spcPts val="5400"/>
              </a:lnSpc>
              <a:buNone/>
            </a:pPr>
            <a:r>
              <a:rPr lang="en-US" sz="4300" dirty="0">
                <a:solidFill>
                  <a:srgbClr val="FFFFFF"/>
                </a:solidFill>
                <a:latin typeface="Barlow Medium" pitchFamily="34" charset="0"/>
                <a:ea typeface="Barlow Medium" pitchFamily="34" charset="-122"/>
                <a:cs typeface="Barlow Medium" pitchFamily="34" charset="-120"/>
              </a:rPr>
              <a:t>Real-World Applications: Case Studies</a:t>
            </a:r>
            <a:endParaRPr lang="en-US" sz="4300" dirty="0"/>
          </a:p>
        </p:txBody>
      </p:sp>
      <p:sp>
        <p:nvSpPr>
          <p:cNvPr id="4" name="Shape 1"/>
          <p:cNvSpPr/>
          <p:nvPr/>
        </p:nvSpPr>
        <p:spPr>
          <a:xfrm>
            <a:off x="864037" y="3179326"/>
            <a:ext cx="7415927" cy="2150031"/>
          </a:xfrm>
          <a:prstGeom prst="roundRect">
            <a:avLst>
              <a:gd name="adj" fmla="val 4823"/>
            </a:avLst>
          </a:prstGeom>
          <a:noFill/>
          <a:ln w="15240">
            <a:solidFill>
              <a:srgbClr val="FFFFFF">
                <a:alpha val="24000"/>
              </a:srgbClr>
            </a:solidFill>
            <a:prstDash val="solid"/>
          </a:ln>
        </p:spPr>
      </p:sp>
      <p:sp>
        <p:nvSpPr>
          <p:cNvPr id="5" name="Shape 2"/>
          <p:cNvSpPr/>
          <p:nvPr/>
        </p:nvSpPr>
        <p:spPr>
          <a:xfrm>
            <a:off x="879277" y="3194566"/>
            <a:ext cx="7385447" cy="706517"/>
          </a:xfrm>
          <a:prstGeom prst="rect">
            <a:avLst/>
          </a:prstGeom>
          <a:solidFill>
            <a:srgbClr val="FFFFFF">
              <a:alpha val="4000"/>
            </a:srgbClr>
          </a:solidFill>
          <a:ln/>
        </p:spPr>
      </p:sp>
      <p:sp>
        <p:nvSpPr>
          <p:cNvPr id="6" name="Text 3"/>
          <p:cNvSpPr/>
          <p:nvPr/>
        </p:nvSpPr>
        <p:spPr>
          <a:xfrm>
            <a:off x="1126093" y="3350300"/>
            <a:ext cx="3195280" cy="395049"/>
          </a:xfrm>
          <a:prstGeom prst="rect">
            <a:avLst/>
          </a:prstGeom>
          <a:noFill/>
          <a:ln/>
        </p:spPr>
        <p:txBody>
          <a:bodyPr wrap="none" lIns="0" tIns="0" rIns="0" bIns="0" rtlCol="0" anchor="t"/>
          <a:lstStyle/>
          <a:p>
            <a:pPr algn="l" indent="0" marL="0">
              <a:lnSpc>
                <a:spcPts val="3100"/>
              </a:lnSpc>
              <a:buNone/>
            </a:pPr>
            <a:r>
              <a:rPr lang="en-US" sz="1900" dirty="0">
                <a:solidFill>
                  <a:srgbClr val="E5E0DF"/>
                </a:solidFill>
                <a:latin typeface="Barlow" pitchFamily="34" charset="0"/>
                <a:ea typeface="Barlow" pitchFamily="34" charset="-122"/>
                <a:cs typeface="Barlow" pitchFamily="34" charset="-120"/>
              </a:rPr>
              <a:t>California Almond Farms</a:t>
            </a:r>
            <a:endParaRPr lang="en-US" sz="1900" dirty="0"/>
          </a:p>
        </p:txBody>
      </p:sp>
      <p:sp>
        <p:nvSpPr>
          <p:cNvPr id="7" name="Text 4"/>
          <p:cNvSpPr/>
          <p:nvPr/>
        </p:nvSpPr>
        <p:spPr>
          <a:xfrm>
            <a:off x="4822627" y="3350300"/>
            <a:ext cx="3195280" cy="395049"/>
          </a:xfrm>
          <a:prstGeom prst="rect">
            <a:avLst/>
          </a:prstGeom>
          <a:noFill/>
          <a:ln/>
        </p:spPr>
        <p:txBody>
          <a:bodyPr wrap="none" lIns="0" tIns="0" rIns="0" bIns="0" rtlCol="0" anchor="t"/>
          <a:lstStyle/>
          <a:p>
            <a:pPr algn="l" indent="0" marL="0">
              <a:lnSpc>
                <a:spcPts val="3100"/>
              </a:lnSpc>
              <a:buNone/>
            </a:pPr>
            <a:r>
              <a:rPr lang="en-US" sz="1900" dirty="0">
                <a:solidFill>
                  <a:srgbClr val="E5E0DF"/>
                </a:solidFill>
                <a:latin typeface="Barlow" pitchFamily="34" charset="0"/>
                <a:ea typeface="Barlow" pitchFamily="34" charset="-122"/>
                <a:cs typeface="Barlow" pitchFamily="34" charset="-120"/>
              </a:rPr>
              <a:t>30% water reduction</a:t>
            </a:r>
            <a:endParaRPr lang="en-US" sz="1900" dirty="0"/>
          </a:p>
        </p:txBody>
      </p:sp>
      <p:sp>
        <p:nvSpPr>
          <p:cNvPr id="8" name="Shape 5"/>
          <p:cNvSpPr/>
          <p:nvPr/>
        </p:nvSpPr>
        <p:spPr>
          <a:xfrm>
            <a:off x="879277" y="3901083"/>
            <a:ext cx="7385447" cy="706517"/>
          </a:xfrm>
          <a:prstGeom prst="rect">
            <a:avLst/>
          </a:prstGeom>
          <a:solidFill>
            <a:srgbClr val="000000">
              <a:alpha val="4000"/>
            </a:srgbClr>
          </a:solidFill>
          <a:ln/>
        </p:spPr>
      </p:sp>
      <p:sp>
        <p:nvSpPr>
          <p:cNvPr id="9" name="Text 6"/>
          <p:cNvSpPr/>
          <p:nvPr/>
        </p:nvSpPr>
        <p:spPr>
          <a:xfrm>
            <a:off x="1126093" y="4056817"/>
            <a:ext cx="3195280" cy="395049"/>
          </a:xfrm>
          <a:prstGeom prst="rect">
            <a:avLst/>
          </a:prstGeom>
          <a:noFill/>
          <a:ln/>
        </p:spPr>
        <p:txBody>
          <a:bodyPr wrap="none" lIns="0" tIns="0" rIns="0" bIns="0" rtlCol="0" anchor="t"/>
          <a:lstStyle/>
          <a:p>
            <a:pPr algn="l" indent="0" marL="0">
              <a:lnSpc>
                <a:spcPts val="3100"/>
              </a:lnSpc>
              <a:buNone/>
            </a:pPr>
            <a:r>
              <a:rPr lang="en-US" sz="1900" dirty="0">
                <a:solidFill>
                  <a:srgbClr val="E5E0DF"/>
                </a:solidFill>
                <a:latin typeface="Barlow" pitchFamily="34" charset="0"/>
                <a:ea typeface="Barlow" pitchFamily="34" charset="-122"/>
                <a:cs typeface="Barlow" pitchFamily="34" charset="-120"/>
              </a:rPr>
              <a:t>Australian Vineyards</a:t>
            </a:r>
            <a:endParaRPr lang="en-US" sz="1900" dirty="0"/>
          </a:p>
        </p:txBody>
      </p:sp>
      <p:sp>
        <p:nvSpPr>
          <p:cNvPr id="10" name="Text 7"/>
          <p:cNvSpPr/>
          <p:nvPr/>
        </p:nvSpPr>
        <p:spPr>
          <a:xfrm>
            <a:off x="4822627" y="4056817"/>
            <a:ext cx="3195280" cy="395049"/>
          </a:xfrm>
          <a:prstGeom prst="rect">
            <a:avLst/>
          </a:prstGeom>
          <a:noFill/>
          <a:ln/>
        </p:spPr>
        <p:txBody>
          <a:bodyPr wrap="none" lIns="0" tIns="0" rIns="0" bIns="0" rtlCol="0" anchor="t"/>
          <a:lstStyle/>
          <a:p>
            <a:pPr algn="l" indent="0" marL="0">
              <a:lnSpc>
                <a:spcPts val="3100"/>
              </a:lnSpc>
              <a:buNone/>
            </a:pPr>
            <a:r>
              <a:rPr lang="en-US" sz="1900" dirty="0">
                <a:solidFill>
                  <a:srgbClr val="E5E0DF"/>
                </a:solidFill>
                <a:latin typeface="Barlow" pitchFamily="34" charset="0"/>
                <a:ea typeface="Barlow" pitchFamily="34" charset="-122"/>
                <a:cs typeface="Barlow" pitchFamily="34" charset="-120"/>
              </a:rPr>
              <a:t>15% yield increase</a:t>
            </a:r>
            <a:endParaRPr lang="en-US" sz="1900" dirty="0"/>
          </a:p>
        </p:txBody>
      </p:sp>
      <p:sp>
        <p:nvSpPr>
          <p:cNvPr id="11" name="Shape 8"/>
          <p:cNvSpPr/>
          <p:nvPr/>
        </p:nvSpPr>
        <p:spPr>
          <a:xfrm>
            <a:off x="879277" y="4607600"/>
            <a:ext cx="7385447" cy="706517"/>
          </a:xfrm>
          <a:prstGeom prst="rect">
            <a:avLst/>
          </a:prstGeom>
          <a:solidFill>
            <a:srgbClr val="FFFFFF">
              <a:alpha val="4000"/>
            </a:srgbClr>
          </a:solidFill>
          <a:ln/>
        </p:spPr>
      </p:sp>
      <p:sp>
        <p:nvSpPr>
          <p:cNvPr id="12" name="Text 9"/>
          <p:cNvSpPr/>
          <p:nvPr/>
        </p:nvSpPr>
        <p:spPr>
          <a:xfrm>
            <a:off x="1126093" y="4763333"/>
            <a:ext cx="3195280" cy="395049"/>
          </a:xfrm>
          <a:prstGeom prst="rect">
            <a:avLst/>
          </a:prstGeom>
          <a:noFill/>
          <a:ln/>
        </p:spPr>
        <p:txBody>
          <a:bodyPr wrap="none" lIns="0" tIns="0" rIns="0" bIns="0" rtlCol="0" anchor="t"/>
          <a:lstStyle/>
          <a:p>
            <a:pPr algn="l" indent="0" marL="0">
              <a:lnSpc>
                <a:spcPts val="3100"/>
              </a:lnSpc>
              <a:buNone/>
            </a:pPr>
            <a:r>
              <a:rPr lang="en-US" sz="1900" dirty="0">
                <a:solidFill>
                  <a:srgbClr val="E5E0DF"/>
                </a:solidFill>
                <a:latin typeface="Barlow" pitchFamily="34" charset="0"/>
                <a:ea typeface="Barlow" pitchFamily="34" charset="-122"/>
                <a:cs typeface="Barlow" pitchFamily="34" charset="-120"/>
              </a:rPr>
              <a:t>USDA Initiatives</a:t>
            </a:r>
            <a:endParaRPr lang="en-US" sz="1900" dirty="0"/>
          </a:p>
        </p:txBody>
      </p:sp>
      <p:sp>
        <p:nvSpPr>
          <p:cNvPr id="13" name="Text 10"/>
          <p:cNvSpPr/>
          <p:nvPr/>
        </p:nvSpPr>
        <p:spPr>
          <a:xfrm>
            <a:off x="4822627" y="4763333"/>
            <a:ext cx="3195280" cy="395049"/>
          </a:xfrm>
          <a:prstGeom prst="rect">
            <a:avLst/>
          </a:prstGeom>
          <a:noFill/>
          <a:ln/>
        </p:spPr>
        <p:txBody>
          <a:bodyPr wrap="none" lIns="0" tIns="0" rIns="0" bIns="0" rtlCol="0" anchor="t"/>
          <a:lstStyle/>
          <a:p>
            <a:pPr algn="l" indent="0" marL="0">
              <a:lnSpc>
                <a:spcPts val="3100"/>
              </a:lnSpc>
              <a:buNone/>
            </a:pPr>
            <a:r>
              <a:rPr lang="en-US" sz="1900" dirty="0">
                <a:solidFill>
                  <a:srgbClr val="E5E0DF"/>
                </a:solidFill>
                <a:latin typeface="Barlow" pitchFamily="34" charset="0"/>
                <a:ea typeface="Barlow" pitchFamily="34" charset="-122"/>
                <a:cs typeface="Barlow" pitchFamily="34" charset="-120"/>
              </a:rPr>
              <a:t>Government subsidies</a:t>
            </a:r>
            <a:endParaRPr lang="en-US" sz="1900" dirty="0"/>
          </a:p>
        </p:txBody>
      </p:sp>
      <p:sp>
        <p:nvSpPr>
          <p:cNvPr id="14" name="Text 11"/>
          <p:cNvSpPr/>
          <p:nvPr/>
        </p:nvSpPr>
        <p:spPr>
          <a:xfrm>
            <a:off x="864037" y="5607010"/>
            <a:ext cx="7415927" cy="1185148"/>
          </a:xfrm>
          <a:prstGeom prst="rect">
            <a:avLst/>
          </a:prstGeom>
          <a:noFill/>
          <a:ln/>
        </p:spPr>
        <p:txBody>
          <a:bodyPr wrap="square" lIns="0" tIns="0" rIns="0" bIns="0" rtlCol="0" anchor="t"/>
          <a:lstStyle/>
          <a:p>
            <a:pPr algn="l" indent="0" marL="0">
              <a:lnSpc>
                <a:spcPts val="3100"/>
              </a:lnSpc>
              <a:buNone/>
            </a:pPr>
            <a:r>
              <a:rPr lang="en-US" sz="1900" dirty="0">
                <a:solidFill>
                  <a:srgbClr val="E5E0DF"/>
                </a:solidFill>
                <a:latin typeface="Barlow" pitchFamily="34" charset="0"/>
                <a:ea typeface="Barlow" pitchFamily="34" charset="-122"/>
                <a:cs typeface="Barlow" pitchFamily="34" charset="-120"/>
              </a:rPr>
              <a:t>California almond farms saved 1.2 million gallons of water per acre. Government subsidies support the adoption of smart irrigation technologies.</a:t>
            </a:r>
            <a:endParaRPr lang="en-US" sz="1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854512" y="671870"/>
            <a:ext cx="6938010" cy="678180"/>
          </a:xfrm>
          <a:prstGeom prst="rect">
            <a:avLst/>
          </a:prstGeom>
          <a:noFill/>
          <a:ln/>
        </p:spPr>
        <p:txBody>
          <a:bodyPr wrap="none" lIns="0" tIns="0" rIns="0" bIns="0" rtlCol="0" anchor="t"/>
          <a:lstStyle/>
          <a:p>
            <a:pPr algn="l" indent="0" marL="0">
              <a:lnSpc>
                <a:spcPts val="5300"/>
              </a:lnSpc>
              <a:buNone/>
            </a:pPr>
            <a:r>
              <a:rPr lang="en-US" sz="4250" dirty="0">
                <a:solidFill>
                  <a:srgbClr val="FFFFFF"/>
                </a:solidFill>
                <a:latin typeface="Barlow Medium" pitchFamily="34" charset="0"/>
                <a:ea typeface="Barlow Medium" pitchFamily="34" charset="-122"/>
                <a:cs typeface="Barlow Medium" pitchFamily="34" charset="-120"/>
              </a:rPr>
              <a:t>Challenges and Opportunities</a:t>
            </a:r>
            <a:endParaRPr lang="en-US" sz="4250" dirty="0"/>
          </a:p>
        </p:txBody>
      </p:sp>
      <p:pic>
        <p:nvPicPr>
          <p:cNvPr id="4" name="Image 1" descr="preencoded.png">    </p:cNvPr>
          <p:cNvPicPr>
            <a:picLocks noChangeAspect="1"/>
          </p:cNvPicPr>
          <p:nvPr/>
        </p:nvPicPr>
        <p:blipFill>
          <a:blip r:embed="rId2"/>
          <a:stretch>
            <a:fillRect/>
          </a:stretch>
        </p:blipFill>
        <p:spPr>
          <a:xfrm>
            <a:off x="854512" y="1716286"/>
            <a:ext cx="1220867" cy="1464945"/>
          </a:xfrm>
          <a:prstGeom prst="rect">
            <a:avLst/>
          </a:prstGeom>
        </p:spPr>
      </p:pic>
      <p:sp>
        <p:nvSpPr>
          <p:cNvPr id="5" name="Text 1"/>
          <p:cNvSpPr/>
          <p:nvPr/>
        </p:nvSpPr>
        <p:spPr>
          <a:xfrm>
            <a:off x="2441615" y="1960364"/>
            <a:ext cx="2712958" cy="339090"/>
          </a:xfrm>
          <a:prstGeom prst="rect">
            <a:avLst/>
          </a:prstGeom>
          <a:noFill/>
          <a:ln/>
        </p:spPr>
        <p:txBody>
          <a:bodyPr wrap="none" lIns="0" tIns="0" rIns="0" bIns="0" rtlCol="0" anchor="t"/>
          <a:lstStyle/>
          <a:p>
            <a:pPr algn="l" indent="0" marL="0">
              <a:lnSpc>
                <a:spcPts val="2650"/>
              </a:lnSpc>
              <a:buNone/>
            </a:pPr>
            <a:r>
              <a:rPr lang="en-US" sz="2100" dirty="0">
                <a:solidFill>
                  <a:srgbClr val="E5E0DF"/>
                </a:solidFill>
                <a:latin typeface="Barlow Medium" pitchFamily="34" charset="0"/>
                <a:ea typeface="Barlow Medium" pitchFamily="34" charset="-122"/>
                <a:cs typeface="Barlow Medium" pitchFamily="34" charset="-120"/>
              </a:rPr>
              <a:t>Initial Costs</a:t>
            </a:r>
            <a:endParaRPr lang="en-US" sz="2100" dirty="0"/>
          </a:p>
        </p:txBody>
      </p:sp>
      <p:sp>
        <p:nvSpPr>
          <p:cNvPr id="6" name="Text 2"/>
          <p:cNvSpPr/>
          <p:nvPr/>
        </p:nvSpPr>
        <p:spPr>
          <a:xfrm>
            <a:off x="2441615" y="2445901"/>
            <a:ext cx="5847874" cy="390644"/>
          </a:xfrm>
          <a:prstGeom prst="rect">
            <a:avLst/>
          </a:prstGeom>
          <a:noFill/>
          <a:ln/>
        </p:spPr>
        <p:txBody>
          <a:bodyPr wrap="none" lIns="0" tIns="0" rIns="0" bIns="0" rtlCol="0" anchor="t"/>
          <a:lstStyle/>
          <a:p>
            <a:pPr algn="l" indent="0" marL="0">
              <a:lnSpc>
                <a:spcPts val="3050"/>
              </a:lnSpc>
              <a:buNone/>
            </a:pPr>
            <a:r>
              <a:rPr lang="en-US" sz="1900" dirty="0">
                <a:solidFill>
                  <a:srgbClr val="E5E0DF"/>
                </a:solidFill>
                <a:latin typeface="Barlow" pitchFamily="34" charset="0"/>
                <a:ea typeface="Barlow" pitchFamily="34" charset="-122"/>
                <a:cs typeface="Barlow" pitchFamily="34" charset="-120"/>
              </a:rPr>
              <a:t>Investment for hardware</a:t>
            </a:r>
            <a:endParaRPr lang="en-US" sz="1900" dirty="0"/>
          </a:p>
        </p:txBody>
      </p:sp>
      <p:pic>
        <p:nvPicPr>
          <p:cNvPr id="7" name="Image 2" descr="preencoded.png">    </p:cNvPr>
          <p:cNvPicPr>
            <a:picLocks noChangeAspect="1"/>
          </p:cNvPicPr>
          <p:nvPr/>
        </p:nvPicPr>
        <p:blipFill>
          <a:blip r:embed="rId3"/>
          <a:stretch>
            <a:fillRect/>
          </a:stretch>
        </p:blipFill>
        <p:spPr>
          <a:xfrm>
            <a:off x="854512" y="3181231"/>
            <a:ext cx="1220867" cy="1464945"/>
          </a:xfrm>
          <a:prstGeom prst="rect">
            <a:avLst/>
          </a:prstGeom>
        </p:spPr>
      </p:pic>
      <p:sp>
        <p:nvSpPr>
          <p:cNvPr id="8" name="Text 3"/>
          <p:cNvSpPr/>
          <p:nvPr/>
        </p:nvSpPr>
        <p:spPr>
          <a:xfrm>
            <a:off x="2441615" y="3425309"/>
            <a:ext cx="2712958" cy="339090"/>
          </a:xfrm>
          <a:prstGeom prst="rect">
            <a:avLst/>
          </a:prstGeom>
          <a:noFill/>
          <a:ln/>
        </p:spPr>
        <p:txBody>
          <a:bodyPr wrap="none" lIns="0" tIns="0" rIns="0" bIns="0" rtlCol="0" anchor="t"/>
          <a:lstStyle/>
          <a:p>
            <a:pPr algn="l" indent="0" marL="0">
              <a:lnSpc>
                <a:spcPts val="2650"/>
              </a:lnSpc>
              <a:buNone/>
            </a:pPr>
            <a:r>
              <a:rPr lang="en-US" sz="2100" dirty="0">
                <a:solidFill>
                  <a:srgbClr val="E5E0DF"/>
                </a:solidFill>
                <a:latin typeface="Barlow Medium" pitchFamily="34" charset="0"/>
                <a:ea typeface="Barlow Medium" pitchFamily="34" charset="-122"/>
                <a:cs typeface="Barlow Medium" pitchFamily="34" charset="-120"/>
              </a:rPr>
              <a:t>Data Security</a:t>
            </a:r>
            <a:endParaRPr lang="en-US" sz="2100" dirty="0"/>
          </a:p>
        </p:txBody>
      </p:sp>
      <p:sp>
        <p:nvSpPr>
          <p:cNvPr id="9" name="Text 4"/>
          <p:cNvSpPr/>
          <p:nvPr/>
        </p:nvSpPr>
        <p:spPr>
          <a:xfrm>
            <a:off x="2441615" y="3910846"/>
            <a:ext cx="5847874" cy="390644"/>
          </a:xfrm>
          <a:prstGeom prst="rect">
            <a:avLst/>
          </a:prstGeom>
          <a:noFill/>
          <a:ln/>
        </p:spPr>
        <p:txBody>
          <a:bodyPr wrap="none" lIns="0" tIns="0" rIns="0" bIns="0" rtlCol="0" anchor="t"/>
          <a:lstStyle/>
          <a:p>
            <a:pPr algn="l" indent="0" marL="0">
              <a:lnSpc>
                <a:spcPts val="3050"/>
              </a:lnSpc>
              <a:buNone/>
            </a:pPr>
            <a:r>
              <a:rPr lang="en-US" sz="1900" dirty="0">
                <a:solidFill>
                  <a:srgbClr val="E5E0DF"/>
                </a:solidFill>
                <a:latin typeface="Barlow" pitchFamily="34" charset="0"/>
                <a:ea typeface="Barlow" pitchFamily="34" charset="-122"/>
                <a:cs typeface="Barlow" pitchFamily="34" charset="-120"/>
              </a:rPr>
              <a:t>Data privacy and prevention</a:t>
            </a:r>
            <a:endParaRPr lang="en-US" sz="1900" dirty="0"/>
          </a:p>
        </p:txBody>
      </p:sp>
      <p:pic>
        <p:nvPicPr>
          <p:cNvPr id="10" name="Image 3" descr="preencoded.png">    </p:cNvPr>
          <p:cNvPicPr>
            <a:picLocks noChangeAspect="1"/>
          </p:cNvPicPr>
          <p:nvPr/>
        </p:nvPicPr>
        <p:blipFill>
          <a:blip r:embed="rId4"/>
          <a:stretch>
            <a:fillRect/>
          </a:stretch>
        </p:blipFill>
        <p:spPr>
          <a:xfrm>
            <a:off x="854512" y="4646176"/>
            <a:ext cx="1220867" cy="1464945"/>
          </a:xfrm>
          <a:prstGeom prst="rect">
            <a:avLst/>
          </a:prstGeom>
        </p:spPr>
      </p:pic>
      <p:sp>
        <p:nvSpPr>
          <p:cNvPr id="11" name="Text 5"/>
          <p:cNvSpPr/>
          <p:nvPr/>
        </p:nvSpPr>
        <p:spPr>
          <a:xfrm>
            <a:off x="2441615" y="4890254"/>
            <a:ext cx="2712958" cy="339090"/>
          </a:xfrm>
          <a:prstGeom prst="rect">
            <a:avLst/>
          </a:prstGeom>
          <a:noFill/>
          <a:ln/>
        </p:spPr>
        <p:txBody>
          <a:bodyPr wrap="none" lIns="0" tIns="0" rIns="0" bIns="0" rtlCol="0" anchor="t"/>
          <a:lstStyle/>
          <a:p>
            <a:pPr algn="l" indent="0" marL="0">
              <a:lnSpc>
                <a:spcPts val="2650"/>
              </a:lnSpc>
              <a:buNone/>
            </a:pPr>
            <a:r>
              <a:rPr lang="en-US" sz="2100" dirty="0">
                <a:solidFill>
                  <a:srgbClr val="E5E0DF"/>
                </a:solidFill>
                <a:latin typeface="Barlow Medium" pitchFamily="34" charset="0"/>
                <a:ea typeface="Barlow Medium" pitchFamily="34" charset="-122"/>
                <a:cs typeface="Barlow Medium" pitchFamily="34" charset="-120"/>
              </a:rPr>
              <a:t>Regulatory Hurdles</a:t>
            </a:r>
            <a:endParaRPr lang="en-US" sz="2100" dirty="0"/>
          </a:p>
        </p:txBody>
      </p:sp>
      <p:sp>
        <p:nvSpPr>
          <p:cNvPr id="12" name="Text 6"/>
          <p:cNvSpPr/>
          <p:nvPr/>
        </p:nvSpPr>
        <p:spPr>
          <a:xfrm>
            <a:off x="2441615" y="5375791"/>
            <a:ext cx="5847874" cy="390644"/>
          </a:xfrm>
          <a:prstGeom prst="rect">
            <a:avLst/>
          </a:prstGeom>
          <a:noFill/>
          <a:ln/>
        </p:spPr>
        <p:txBody>
          <a:bodyPr wrap="none" lIns="0" tIns="0" rIns="0" bIns="0" rtlCol="0" anchor="t"/>
          <a:lstStyle/>
          <a:p>
            <a:pPr algn="l" indent="0" marL="0">
              <a:lnSpc>
                <a:spcPts val="3050"/>
              </a:lnSpc>
              <a:buNone/>
            </a:pPr>
            <a:r>
              <a:rPr lang="en-US" sz="1900" dirty="0">
                <a:solidFill>
                  <a:srgbClr val="E5E0DF"/>
                </a:solidFill>
                <a:latin typeface="Barlow" pitchFamily="34" charset="0"/>
                <a:ea typeface="Barlow" pitchFamily="34" charset="-122"/>
                <a:cs typeface="Barlow" pitchFamily="34" charset="-120"/>
              </a:rPr>
              <a:t>FAA and data policies</a:t>
            </a:r>
            <a:endParaRPr lang="en-US" sz="1900" dirty="0"/>
          </a:p>
        </p:txBody>
      </p:sp>
      <p:sp>
        <p:nvSpPr>
          <p:cNvPr id="13" name="Text 7"/>
          <p:cNvSpPr/>
          <p:nvPr/>
        </p:nvSpPr>
        <p:spPr>
          <a:xfrm>
            <a:off x="854512" y="6385798"/>
            <a:ext cx="7434977" cy="1171932"/>
          </a:xfrm>
          <a:prstGeom prst="rect">
            <a:avLst/>
          </a:prstGeom>
          <a:noFill/>
          <a:ln/>
        </p:spPr>
        <p:txBody>
          <a:bodyPr wrap="square" lIns="0" tIns="0" rIns="0" bIns="0" rtlCol="0" anchor="t"/>
          <a:lstStyle/>
          <a:p>
            <a:pPr algn="l" indent="0" marL="0">
              <a:lnSpc>
                <a:spcPts val="3050"/>
              </a:lnSpc>
              <a:buNone/>
            </a:pPr>
            <a:r>
              <a:rPr lang="en-US" sz="1900" dirty="0">
                <a:solidFill>
                  <a:srgbClr val="E5E0DF"/>
                </a:solidFill>
                <a:latin typeface="Barlow" pitchFamily="34" charset="0"/>
                <a:ea typeface="Barlow" pitchFamily="34" charset="-122"/>
                <a:cs typeface="Barlow" pitchFamily="34" charset="-120"/>
              </a:rPr>
              <a:t>Addressing these challenges will unlock significant opportunities as hardware costs decrease, software sophistication increases, and supportive government policies emerge.</a:t>
            </a:r>
            <a:endParaRPr lang="en-US" sz="1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350437" y="1837015"/>
            <a:ext cx="7109936" cy="685800"/>
          </a:xfrm>
          <a:prstGeom prst="rect">
            <a:avLst/>
          </a:prstGeom>
          <a:noFill/>
          <a:ln/>
        </p:spPr>
        <p:txBody>
          <a:bodyPr wrap="none" lIns="0" tIns="0" rIns="0" bIns="0" rtlCol="0" anchor="t"/>
          <a:lstStyle/>
          <a:p>
            <a:pPr algn="l" indent="0" marL="0">
              <a:lnSpc>
                <a:spcPts val="5400"/>
              </a:lnSpc>
              <a:buNone/>
            </a:pPr>
            <a:r>
              <a:rPr lang="en-US" sz="4300" dirty="0">
                <a:solidFill>
                  <a:srgbClr val="FFFFFF"/>
                </a:solidFill>
                <a:latin typeface="Barlow Medium" pitchFamily="34" charset="0"/>
                <a:ea typeface="Barlow Medium" pitchFamily="34" charset="-122"/>
                <a:cs typeface="Barlow Medium" pitchFamily="34" charset="-120"/>
              </a:rPr>
              <a:t>The Future of Smart Irrigation</a:t>
            </a:r>
            <a:endParaRPr lang="en-US" sz="4300" dirty="0"/>
          </a:p>
        </p:txBody>
      </p:sp>
      <p:sp>
        <p:nvSpPr>
          <p:cNvPr id="4" name="Text 1"/>
          <p:cNvSpPr/>
          <p:nvPr/>
        </p:nvSpPr>
        <p:spPr>
          <a:xfrm>
            <a:off x="6350437" y="3016448"/>
            <a:ext cx="7415927" cy="814626"/>
          </a:xfrm>
          <a:prstGeom prst="rect">
            <a:avLst/>
          </a:prstGeom>
          <a:noFill/>
          <a:ln/>
        </p:spPr>
        <p:txBody>
          <a:bodyPr wrap="none" lIns="0" tIns="0" rIns="0" bIns="0" rtlCol="0" anchor="t"/>
          <a:lstStyle/>
          <a:p>
            <a:pPr algn="ctr" indent="0" marL="0">
              <a:lnSpc>
                <a:spcPts val="6400"/>
              </a:lnSpc>
              <a:buNone/>
            </a:pPr>
            <a:r>
              <a:rPr lang="en-US" sz="6400" dirty="0">
                <a:solidFill>
                  <a:srgbClr val="E5E0DF"/>
                </a:solidFill>
                <a:latin typeface="Barlow Medium" pitchFamily="34" charset="0"/>
                <a:ea typeface="Barlow Medium" pitchFamily="34" charset="-122"/>
                <a:cs typeface="Barlow Medium" pitchFamily="34" charset="-120"/>
              </a:rPr>
              <a:t>12B</a:t>
            </a:r>
            <a:endParaRPr lang="en-US" sz="6400" dirty="0"/>
          </a:p>
        </p:txBody>
      </p:sp>
      <p:sp>
        <p:nvSpPr>
          <p:cNvPr id="5" name="Text 2"/>
          <p:cNvSpPr/>
          <p:nvPr/>
        </p:nvSpPr>
        <p:spPr>
          <a:xfrm>
            <a:off x="6350437" y="4139565"/>
            <a:ext cx="7415927" cy="395049"/>
          </a:xfrm>
          <a:prstGeom prst="rect">
            <a:avLst/>
          </a:prstGeom>
          <a:noFill/>
          <a:ln/>
        </p:spPr>
        <p:txBody>
          <a:bodyPr wrap="none" lIns="0" tIns="0" rIns="0" bIns="0" rtlCol="0" anchor="t"/>
          <a:lstStyle/>
          <a:p>
            <a:pPr algn="ctr" indent="0" marL="0">
              <a:lnSpc>
                <a:spcPts val="3100"/>
              </a:lnSpc>
              <a:buNone/>
            </a:pPr>
            <a:r>
              <a:rPr lang="en-US" sz="1900" dirty="0">
                <a:solidFill>
                  <a:srgbClr val="E5E0DF"/>
                </a:solidFill>
                <a:latin typeface="Barlow" pitchFamily="34" charset="0"/>
                <a:ea typeface="Barlow" pitchFamily="34" charset="-122"/>
                <a:cs typeface="Barlow" pitchFamily="34" charset="-120"/>
              </a:rPr>
              <a:t>Market by 2027 (USD)</a:t>
            </a:r>
            <a:endParaRPr lang="en-US" sz="1900" dirty="0"/>
          </a:p>
        </p:txBody>
      </p:sp>
      <p:sp>
        <p:nvSpPr>
          <p:cNvPr id="6" name="Text 3"/>
          <p:cNvSpPr/>
          <p:nvPr/>
        </p:nvSpPr>
        <p:spPr>
          <a:xfrm>
            <a:off x="6350437" y="4812268"/>
            <a:ext cx="7415927" cy="1580198"/>
          </a:xfrm>
          <a:prstGeom prst="rect">
            <a:avLst/>
          </a:prstGeom>
          <a:noFill/>
          <a:ln/>
        </p:spPr>
        <p:txBody>
          <a:bodyPr wrap="square" lIns="0" tIns="0" rIns="0" bIns="0" rtlCol="0" anchor="t"/>
          <a:lstStyle/>
          <a:p>
            <a:pPr algn="l" indent="0" marL="0">
              <a:lnSpc>
                <a:spcPts val="3100"/>
              </a:lnSpc>
              <a:buNone/>
            </a:pPr>
            <a:r>
              <a:rPr lang="en-US" sz="1900" dirty="0">
                <a:solidFill>
                  <a:srgbClr val="E5E0DF"/>
                </a:solidFill>
                <a:latin typeface="Barlow" pitchFamily="34" charset="0"/>
                <a:ea typeface="Barlow" pitchFamily="34" charset="-122"/>
                <a:cs typeface="Barlow" pitchFamily="34" charset="-120"/>
              </a:rPr>
              <a:t>AI-powered irrigation and IoT sensors will enable comprehensive monitoring and proactive water management. Autonomous drones will fully automate data collection and irrigation control. The market is expected to reach $12B by 2027.</a:t>
            </a:r>
            <a:endParaRPr lang="en-US" sz="1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2025-04-17T13:38:13Z</dcterms:created>
  <dcterms:modified xsi:type="dcterms:W3CDTF">2025-04-17T13:38:13Z</dcterms:modified>
</cp:coreProperties>
</file>